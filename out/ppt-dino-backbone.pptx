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53348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1645920"/>
            <a:ext cx="9144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Microsoft YaHei"/>
              </a:defRPr>
            </a:pPr>
            <a:r>
              <a:t>DINOSAM：DINOv3 主干方向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301752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DDCCEE"/>
                </a:solidFill>
                <a:latin typeface="Microsoft YaHei"/>
              </a:defRPr>
            </a:pPr>
            <a:r>
              <a:t>以 DINOv3 ViT-B/16 + 可训练适配器替代 SAM 图像编码器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41148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BBAACC"/>
                </a:solidFill>
                <a:latin typeface="Microsoft YaHei"/>
              </a:defRPr>
            </a:pPr>
            <a:r>
              <a:t>适配器消融实验设计 · 技术方案讨论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53035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988AA"/>
                </a:solidFill>
                <a:latin typeface="Microsoft YaHei"/>
              </a:defRPr>
            </a:pPr>
            <a:r>
              <a:t>2026.06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F3460"/>
                </a:solidFill>
                <a:latin typeface="Microsoft YaHei"/>
              </a:defRPr>
            </a:pPr>
            <a:r>
              <a:t>动机：为什么用 DINOv3 替换 SAM 编码器？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188720"/>
            <a:ext cx="5303520" cy="2286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984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984E3"/>
                </a:solidFill>
                <a:latin typeface="Microsoft YaHei"/>
              </a:defRPr>
            </a:pPr>
            <a:r>
              <a:t>SAM ViT-B/16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49377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1A1A2E"/>
                </a:solidFill>
                <a:latin typeface="Microsoft YaHei"/>
              </a:defRPr>
            </a:pPr>
            <a:r>
              <a:t>✅ SA-1B 大规模分割监督预训练</a:t>
            </a:r>
          </a:p>
          <a:p>
            <a:pPr>
              <a:spcAft>
                <a:spcPts val="600"/>
              </a:spcAft>
              <a:defRPr sz="1300">
                <a:solidFill>
                  <a:srgbClr val="1A1A2E"/>
                </a:solidFill>
                <a:latin typeface="Microsoft YaHei"/>
              </a:defRPr>
            </a:pPr>
            <a:r>
              <a:t>✅ 强分割空间先验</a:t>
            </a:r>
          </a:p>
          <a:p>
            <a:pPr>
              <a:spcAft>
                <a:spcPts val="600"/>
              </a:spcAft>
              <a:defRPr sz="1300">
                <a:solidFill>
                  <a:srgbClr val="1A1A2E"/>
                </a:solidFill>
                <a:latin typeface="Microsoft YaHei"/>
              </a:defRPr>
            </a:pPr>
            <a:r>
              <a:t>❌ 表征受限于分割任务本身的监督信号</a:t>
            </a:r>
          </a:p>
          <a:p>
            <a:pPr>
              <a:spcAft>
                <a:spcPts val="600"/>
              </a:spcAft>
              <a:defRPr sz="1300">
                <a:solidFill>
                  <a:srgbClr val="1A1A2E"/>
                </a:solidFill>
                <a:latin typeface="Microsoft YaHei"/>
              </a:defRPr>
            </a:pPr>
            <a:r>
              <a:t>❌ 可能缺乏通用语义理解能力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0" y="1188720"/>
            <a:ext cx="5303520" cy="2286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5334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0" y="128016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533483"/>
                </a:solidFill>
                <a:latin typeface="Microsoft YaHei"/>
              </a:defRPr>
            </a:pPr>
            <a:r>
              <a:t>DINOv3 ViT-B/16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0" y="1737360"/>
            <a:ext cx="49377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1A1A2E"/>
                </a:solidFill>
                <a:latin typeface="Microsoft YaHei"/>
              </a:defRPr>
            </a:pPr>
            <a:r>
              <a:t>✅ 自监督预训练，通用视觉表征</a:t>
            </a:r>
          </a:p>
          <a:p>
            <a:pPr>
              <a:spcAft>
                <a:spcPts val="600"/>
              </a:spcAft>
              <a:defRPr sz="1300">
                <a:solidFill>
                  <a:srgbClr val="1A1A2E"/>
                </a:solidFill>
                <a:latin typeface="Microsoft YaHei"/>
              </a:defRPr>
            </a:pPr>
            <a:r>
              <a:t>✅ 多下游任务迁移性能优越</a:t>
            </a:r>
          </a:p>
          <a:p>
            <a:pPr>
              <a:spcAft>
                <a:spcPts val="600"/>
              </a:spcAft>
              <a:defRPr sz="1300">
                <a:solidFill>
                  <a:srgbClr val="1A1A2E"/>
                </a:solidFill>
                <a:latin typeface="Microsoft YaHei"/>
              </a:defRPr>
            </a:pPr>
            <a:r>
              <a:t>✅ RoPE 位置编码，LayerScale</a:t>
            </a:r>
          </a:p>
          <a:p>
            <a:pPr>
              <a:spcAft>
                <a:spcPts val="600"/>
              </a:spcAft>
              <a:defRPr sz="1300">
                <a:solidFill>
                  <a:srgbClr val="1A1A2E"/>
                </a:solidFill>
                <a:latin typeface="Microsoft YaHei"/>
              </a:defRPr>
            </a:pPr>
            <a:r>
              <a:t>❌ 输出维度 768 ≠ SAM 内部 256，需要对齐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40480"/>
            <a:ext cx="11247120" cy="1097280"/>
          </a:xfrm>
          <a:prstGeom prst="roundRect">
            <a:avLst/>
          </a:prstGeom>
          <a:solidFill>
            <a:srgbClr val="FFF3E0"/>
          </a:solidFill>
          <a:ln w="19050">
            <a:solidFill>
              <a:srgbClr val="FF9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3931920"/>
            <a:ext cx="10881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65100"/>
                </a:solidFill>
                <a:latin typeface="Microsoft YaHei"/>
              </a:defRPr>
            </a:pPr>
            <a:r>
              <a:t>核心实验问题：对于「分割+深度」联合任务，分割监督的 SAM 先验 vs 自监督的 DINOv3 通用表征，哪个更有效？</a:t>
            </a:r>
            <a:br/>
            <a:r>
              <a:t>→ 这是整个消融实验体系的最顶层维度，两个 PPT 对应的两个方向分别回答这个问题的两侧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53035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94560"/>
                </a:solidFill>
                <a:latin typeface="Microsoft YaHei"/>
              </a:defRPr>
            </a:pPr>
            <a:r>
              <a:t>特征对齐的技术挑战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457200" y="5669280"/>
          <a:ext cx="1124712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49040"/>
                <a:gridCol w="3749040"/>
                <a:gridCol w="3749040"/>
              </a:tblGrid>
              <a:tr h="219456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差异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SAM 编码器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DINOv3 编码器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输出维度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256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768 → 需要投影层</a:t>
                      </a:r>
                    </a:p>
                  </a:txBody>
                  <a:tcPr/>
                </a:tc>
              </a:tr>
              <a:tr h="219456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图像缩放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保持宽高比 + padding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直接 resize 到 1024² (可能形变)</a:t>
                      </a:r>
                    </a:p>
                  </a:txBody>
                  <a:tcPr/>
                </a:tc>
              </a:tr>
              <a:tr h="219456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归一化参数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SAM 专有 pixel_mean/std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ImageNet mean/std ×255</a:t>
                      </a:r>
                    </a:p>
                  </a:txBody>
                  <a:tcPr/>
                </a:tc>
              </a:tr>
              <a:tr h="219456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位置编码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Learned positional embedding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RoPE (base=100)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F3460"/>
                </a:solidFill>
                <a:latin typeface="Microsoft YaHei"/>
              </a:defRPr>
            </a:pPr>
            <a:r>
              <a:t>DINOv3 方向整体架构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188720"/>
            <a:ext cx="5486400" cy="2560320"/>
          </a:xfrm>
          <a:prstGeom prst="roundRect">
            <a:avLst/>
          </a:prstGeom>
          <a:solidFill>
            <a:srgbClr val="FFF8E1"/>
          </a:solidFill>
          <a:ln w="19050">
            <a:solidFill>
              <a:srgbClr val="FF9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9800"/>
                </a:solidFill>
                <a:latin typeface="Microsoft YaHei"/>
              </a:defRPr>
            </a:pPr>
            <a:r>
              <a:t>DINOv3MonaEncoder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737360"/>
            <a:ext cx="1828800" cy="731520"/>
          </a:xfrm>
          <a:prstGeom prst="roundRect">
            <a:avLst/>
          </a:prstGeom>
          <a:solidFill>
            <a:srgbClr val="FFEAA7"/>
          </a:solidFill>
          <a:ln w="19050">
            <a:solidFill>
              <a:srgbClr val="D630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D63031"/>
                </a:solidFill>
                <a:latin typeface="Microsoft YaHei"/>
              </a:defRPr>
            </a:pPr>
            <a:r>
              <a:t>DINOv3 ViT-B/16</a:t>
            </a:r>
            <a:br/>
            <a:r>
              <a:t>🔒 冻结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926080" y="1737360"/>
            <a:ext cx="1097280" cy="731520"/>
          </a:xfrm>
          <a:prstGeom prst="roundRect">
            <a:avLst/>
          </a:prstGeom>
          <a:solidFill>
            <a:srgbClr val="55EFC4"/>
          </a:solidFill>
          <a:ln w="19050">
            <a:solidFill>
              <a:srgbClr val="00B8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0695C"/>
                </a:solidFill>
                <a:latin typeface="Microsoft YaHei"/>
              </a:defRPr>
            </a:pPr>
            <a:r>
              <a:t>Adapter</a:t>
            </a:r>
            <a:br/>
            <a:r>
              <a:t>×2 串联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737360"/>
            <a:ext cx="1097280" cy="731520"/>
          </a:xfrm>
          <a:prstGeom prst="roundRect">
            <a:avLst/>
          </a:prstGeom>
          <a:solidFill>
            <a:srgbClr val="74B9FF"/>
          </a:solidFill>
          <a:ln w="19050">
            <a:solidFill>
              <a:srgbClr val="0984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Linear</a:t>
            </a:r>
            <a:br/>
            <a:r>
              <a:t>768→256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743200"/>
            <a:ext cx="5029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A1A2E"/>
                </a:solidFill>
                <a:latin typeface="Microsoft YaHei"/>
              </a:defRPr>
            </a:pPr>
            <a:r>
              <a:t>关键设计：替换对下游分支完全透明</a:t>
            </a:r>
            <a:br/>
            <a:r>
              <a:t>掩码/深度分支结构与 SAM 方案完全一致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1371600"/>
            <a:ext cx="2286000" cy="548640"/>
          </a:xfrm>
          <a:prstGeom prst="roundRect">
            <a:avLst/>
          </a:prstGeom>
          <a:solidFill>
            <a:srgbClr val="DFF9FB"/>
          </a:solidFill>
          <a:ln w="19050">
            <a:solidFill>
              <a:srgbClr val="0984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0984E3"/>
                </a:solidFill>
                <a:latin typeface="Microsoft YaHei"/>
              </a:defRPr>
            </a:pPr>
            <a:r>
              <a:t>掩码分支 (共享)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2286000"/>
            <a:ext cx="2286000" cy="548640"/>
          </a:xfrm>
          <a:prstGeom prst="roundRect">
            <a:avLst/>
          </a:prstGeom>
          <a:solidFill>
            <a:srgbClr val="F0E6FF"/>
          </a:solidFill>
          <a:ln w="19050">
            <a:solidFill>
              <a:srgbClr val="5334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533483"/>
                </a:solidFill>
                <a:latin typeface="Microsoft YaHei"/>
              </a:defRPr>
            </a:pPr>
            <a:r>
              <a:t>深度分支 (共享)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0" y="1371600"/>
            <a:ext cx="1097280" cy="548640"/>
          </a:xfrm>
          <a:prstGeom prst="roundRect">
            <a:avLst/>
          </a:prstGeom>
          <a:solidFill>
            <a:srgbClr val="55E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00695C"/>
                </a:solidFill>
                <a:latin typeface="Microsoft YaHei"/>
              </a:defRPr>
            </a:pPr>
            <a:r>
              <a:t>掩码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0" y="2286000"/>
            <a:ext cx="1097280" cy="548640"/>
          </a:xfrm>
          <a:prstGeom prst="roundRect">
            <a:avLst/>
          </a:prstGeom>
          <a:solidFill>
            <a:srgbClr val="FFEA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6C5100"/>
                </a:solidFill>
                <a:latin typeface="Microsoft YaHei"/>
              </a:defRPr>
            </a:pPr>
            <a:r>
              <a:t>深度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114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F3460"/>
                </a:solidFill>
                <a:latin typeface="Microsoft YaHei"/>
              </a:defRPr>
            </a:pPr>
            <a:r>
              <a:t>DINOv3 ViT-B/16 骨干配置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457200" y="4572000"/>
          <a:ext cx="1124712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1780"/>
                <a:gridCol w="2811780"/>
                <a:gridCol w="2811780"/>
                <a:gridCol w="2811780"/>
              </a:tblGrid>
              <a:tr h="30480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参数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值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参数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值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patch_size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embed_dim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768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depth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num_heads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12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ffn_ratio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4 (MLP=3072)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pos_embed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RoPE (base=100)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layerscale_init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1×10⁻⁵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norm_layer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LayerNorm BF16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n_storage_tokens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drop_path_rate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0.0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Microsoft YaHei"/>
              </a:defRPr>
            </a:pPr>
            <a:r>
              <a:t>★ 适配器消融设计逻辑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EAA7"/>
                </a:solidFill>
                <a:latin typeface="Microsoft YaHei"/>
              </a:defRPr>
            </a:pPr>
            <a:r>
              <a:t>核心问题：对于稠密预测迁移，何种归纳偏置最有效？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463040"/>
            <a:ext cx="3566160" cy="3291840"/>
          </a:xfrm>
          <a:prstGeom prst="roundRect">
            <a:avLst/>
          </a:prstGeom>
          <a:solidFill>
            <a:srgbClr val="1E2D4A"/>
          </a:solidFill>
          <a:ln w="19050">
            <a:solidFill>
              <a:srgbClr val="0984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554480"/>
            <a:ext cx="3291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984E3"/>
                </a:solidFill>
                <a:latin typeface="Microsoft YaHei"/>
              </a:defRPr>
            </a:pPr>
            <a:r>
              <a:t>FCAdapter</a:t>
            </a:r>
            <a:br/>
            <a:r>
              <a:t>通道基线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2194560"/>
            <a:ext cx="914400" cy="274320"/>
          </a:xfrm>
          <a:prstGeom prst="roundRect">
            <a:avLst/>
          </a:prstGeom>
          <a:solidFill>
            <a:srgbClr val="0984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t>控制组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56032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DDDDDD"/>
                </a:solidFill>
                <a:latin typeface="Microsoft YaHei"/>
              </a:defRPr>
            </a:pPr>
            <a:r>
              <a:t>纯全连接瓶颈</a:t>
            </a:r>
            <a:br/>
            <a:r>
              <a:t>768→96→768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3200400"/>
            <a:ext cx="32918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CCDD"/>
                </a:solidFill>
                <a:latin typeface="Microsoft YaHei"/>
              </a:defRPr>
            </a:pPr>
            <a:r>
              <a:t>无空间操作</a:t>
            </a:r>
            <a:br/>
            <a:r>
              <a:t>仅通道变换</a:t>
            </a:r>
            <a:br/>
            <a:r>
              <a:t>→ 测量纯通道变换的下限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97680" y="1463040"/>
            <a:ext cx="3566160" cy="3291840"/>
          </a:xfrm>
          <a:prstGeom prst="roundRect">
            <a:avLst/>
          </a:prstGeom>
          <a:solidFill>
            <a:srgbClr val="1E2D4A"/>
          </a:solidFill>
          <a:ln w="19050">
            <a:solidFill>
              <a:srgbClr val="00B8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34840" y="1554480"/>
            <a:ext cx="3291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B894"/>
                </a:solidFill>
                <a:latin typeface="Microsoft YaHei"/>
              </a:defRPr>
            </a:pPr>
            <a:r>
              <a:t>MoNA</a:t>
            </a:r>
            <a:br/>
            <a:r>
              <a:t>多尺度卷积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34840" y="2194560"/>
            <a:ext cx="914400" cy="274320"/>
          </a:xfrm>
          <a:prstGeom prst="roundRect">
            <a:avLst/>
          </a:prstGeom>
          <a:solidFill>
            <a:srgbClr val="00B8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t>默认方案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34840" y="256032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DDDDDD"/>
                </a:solidFill>
                <a:latin typeface="Microsoft YaHei"/>
              </a:defRPr>
            </a:pPr>
            <a:r>
              <a:t>瓶颈 + MonaOp</a:t>
            </a:r>
            <a:br/>
            <a:r>
              <a:t>3×3 + 5×5 + 7×7 DWConv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34840" y="3200400"/>
            <a:ext cx="32918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CCDD"/>
                </a:solidFill>
                <a:latin typeface="Microsoft YaHei"/>
              </a:defRPr>
            </a:pPr>
            <a:r>
              <a:t>局部多尺度空间信息</a:t>
            </a:r>
            <a:br/>
            <a:r>
              <a:t>三种尺度均值聚合</a:t>
            </a:r>
            <a:br/>
            <a:r>
              <a:t>→ 评估局部空间信息的贡献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38160" y="1463040"/>
            <a:ext cx="3566160" cy="3291840"/>
          </a:xfrm>
          <a:prstGeom prst="roundRect">
            <a:avLst/>
          </a:prstGeom>
          <a:solidFill>
            <a:srgbClr val="1E2D4A"/>
          </a:solidFill>
          <a:ln w="19050">
            <a:solidFill>
              <a:srgbClr val="5334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75320" y="1554480"/>
            <a:ext cx="3291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533483"/>
                </a:solidFill>
                <a:latin typeface="Microsoft YaHei"/>
              </a:defRPr>
            </a:pPr>
            <a:r>
              <a:t>DualAttnAdapter</a:t>
            </a:r>
            <a:br/>
            <a:r>
              <a:t>双重注意力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75320" y="2194560"/>
            <a:ext cx="914400" cy="274320"/>
          </a:xfrm>
          <a:prstGeom prst="roundRect">
            <a:avLst/>
          </a:prstGeom>
          <a:solidFill>
            <a:srgbClr val="5334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t>注意力方案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75320" y="256032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DDDDDD"/>
                </a:solidFill>
                <a:latin typeface="Microsoft YaHei"/>
              </a:defRPr>
            </a:pPr>
            <a:r>
              <a:t>PAM + CAM</a:t>
            </a:r>
            <a:br/>
            <a:r>
              <a:t>位置注意力 + 通道注意力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75320" y="3200400"/>
            <a:ext cx="32918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CCDD"/>
                </a:solidFill>
                <a:latin typeface="Microsoft YaHei"/>
              </a:defRPr>
            </a:pPr>
            <a:r>
              <a:t>全局长程依赖</a:t>
            </a:r>
            <a:br/>
            <a:r>
              <a:t>无瓶颈压缩</a:t>
            </a:r>
            <a:br/>
            <a:r>
              <a:t>→ 评估全局上下文的价值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0" y="493776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E94560"/>
                </a:solidFill>
                <a:latin typeface="Microsoft YaHei"/>
              </a:defRPr>
            </a:pPr>
            <a:r>
              <a:t>FC (纯通道) →  +局部多尺度空间(MoNA) →  换为全局注意力(DualAttn)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54864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8899AA"/>
                </a:solidFill>
                <a:latin typeface="Microsoft YaHei"/>
              </a:defRPr>
            </a:pPr>
            <a:r>
              <a:t>共性：相同的瓶颈压缩比(768/8=96)、残差连接结构、零初始化策略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58521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EAA7"/>
                </a:solidFill>
                <a:latin typeface="Microsoft YaHei"/>
              </a:defRPr>
            </a:pPr>
            <a:r>
              <a:t>唯一变量：核心变换机制（无/局部卷积/全局注意力）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F3460"/>
                </a:solidFill>
                <a:latin typeface="Microsoft YaHei"/>
              </a:defRPr>
            </a:pPr>
            <a:r>
              <a:t>MoNA — 多尺度卷积适配器（默认方案）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B894"/>
                </a:solidFill>
                <a:latin typeface="Microsoft YaHei"/>
              </a:defRPr>
            </a:pPr>
            <a:r>
              <a:t>核心假设：稠密预测任务受益于多尺度局部空间信息的注入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" y="1463040"/>
            <a:ext cx="1280160" cy="822960"/>
          </a:xfrm>
          <a:prstGeom prst="roundRect">
            <a:avLst/>
          </a:prstGeom>
          <a:solidFill>
            <a:srgbClr val="E8F4F8"/>
          </a:solidFill>
          <a:ln w="19050">
            <a:solidFill>
              <a:srgbClr val="0F34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0">
                <a:solidFill>
                  <a:srgbClr val="0F3460"/>
                </a:solidFill>
                <a:latin typeface="Microsoft YaHei"/>
              </a:defRPr>
            </a:pPr>
            <a:r>
              <a:t>输入 x</a:t>
            </a:r>
            <a:br/>
            <a:r>
              <a:t>(B, N, 768)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737360" y="1463040"/>
            <a:ext cx="1280160" cy="822960"/>
          </a:xfrm>
          <a:prstGeom prst="roundRect">
            <a:avLst/>
          </a:prstGeom>
          <a:solidFill>
            <a:srgbClr val="DFE6E9"/>
          </a:solidFill>
          <a:ln w="19050">
            <a:solidFill>
              <a:srgbClr val="1A1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0">
                <a:solidFill>
                  <a:srgbClr val="1A1A2E"/>
                </a:solidFill>
                <a:latin typeface="Microsoft YaHei"/>
              </a:defRPr>
            </a:pPr>
            <a:r>
              <a:t>仿射归一化</a:t>
            </a:r>
            <a:br/>
            <a:r>
              <a:t>LN(x)·γ + x·γₓ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00400" y="1463040"/>
            <a:ext cx="1280160" cy="822960"/>
          </a:xfrm>
          <a:prstGeom prst="roundRect">
            <a:avLst/>
          </a:prstGeom>
          <a:solidFill>
            <a:srgbClr val="74B9FF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0">
                <a:solidFill>
                  <a:srgbClr val="FFFFFF"/>
                </a:solidFill>
                <a:latin typeface="Microsoft YaHei"/>
              </a:defRPr>
            </a:pPr>
            <a:r>
              <a:t>下投影</a:t>
            </a:r>
            <a:br/>
            <a:r>
              <a:t>768 → 96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663440" y="1463040"/>
            <a:ext cx="1280160" cy="822960"/>
          </a:xfrm>
          <a:prstGeom prst="roundRect">
            <a:avLst/>
          </a:prstGeom>
          <a:solidFill>
            <a:srgbClr val="DFE6E9"/>
          </a:solidFill>
          <a:ln w="19050">
            <a:solidFill>
              <a:srgbClr val="1A1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0">
                <a:solidFill>
                  <a:srgbClr val="1A1A2E"/>
                </a:solidFill>
                <a:latin typeface="Microsoft YaHei"/>
              </a:defRPr>
            </a:pPr>
            <a:r>
              <a:t>Reshape</a:t>
            </a:r>
            <a:br/>
            <a:r>
              <a:t>→ (B,96,H,W)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1463040"/>
            <a:ext cx="1280160" cy="822960"/>
          </a:xfrm>
          <a:prstGeom prst="roundRect">
            <a:avLst/>
          </a:prstGeom>
          <a:solidFill>
            <a:srgbClr val="55EFC4"/>
          </a:solidFill>
          <a:ln w="19050">
            <a:solidFill>
              <a:srgbClr val="0069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0">
                <a:solidFill>
                  <a:srgbClr val="00695C"/>
                </a:solidFill>
                <a:latin typeface="Microsoft YaHei"/>
              </a:defRPr>
            </a:pPr>
            <a:r>
              <a:t>MonaOp</a:t>
            </a:r>
            <a:br/>
            <a:r>
              <a:t>3/5/7 DWConv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589520" y="1463040"/>
            <a:ext cx="1280160" cy="822960"/>
          </a:xfrm>
          <a:prstGeom prst="roundRect">
            <a:avLst/>
          </a:prstGeom>
          <a:solidFill>
            <a:srgbClr val="DFE6E9"/>
          </a:solidFill>
          <a:ln w="19050">
            <a:solidFill>
              <a:srgbClr val="1A1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0">
                <a:solidFill>
                  <a:srgbClr val="1A1A2E"/>
                </a:solidFill>
                <a:latin typeface="Microsoft YaHei"/>
              </a:defRPr>
            </a:pPr>
            <a:r>
              <a:t>GELU + Drop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052560" y="1463040"/>
            <a:ext cx="1280160" cy="822960"/>
          </a:xfrm>
          <a:prstGeom prst="roundRect">
            <a:avLst/>
          </a:prstGeom>
          <a:solidFill>
            <a:srgbClr val="74B9FF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0">
                <a:solidFill>
                  <a:srgbClr val="FFFFFF"/>
                </a:solidFill>
                <a:latin typeface="Microsoft YaHei"/>
              </a:defRPr>
            </a:pPr>
            <a:r>
              <a:t>上投影</a:t>
            </a:r>
            <a:br/>
            <a:r>
              <a:t>96 → 768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515600" y="1463040"/>
            <a:ext cx="1280160" cy="822960"/>
          </a:xfrm>
          <a:prstGeom prst="roundRect">
            <a:avLst/>
          </a:prstGeom>
          <a:solidFill>
            <a:srgbClr val="A29BFE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0">
                <a:solidFill>
                  <a:srgbClr val="FFFFFF"/>
                </a:solidFill>
                <a:latin typeface="Microsoft YaHei"/>
              </a:defRPr>
            </a:pPr>
            <a:r>
              <a:t>+ 残差</a:t>
            </a:r>
            <a:br/>
            <a:r>
              <a:t>→ 输出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2651760"/>
            <a:ext cx="11247120" cy="2286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B8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27432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B894"/>
                </a:solidFill>
                <a:latin typeface="Microsoft YaHei"/>
              </a:defRPr>
            </a:pPr>
            <a:r>
              <a:t>MonaOp 内部 — 多尺度深度卷积模块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200400"/>
            <a:ext cx="1828800" cy="411480"/>
          </a:xfrm>
          <a:prstGeom prst="roundRect">
            <a:avLst/>
          </a:prstGeom>
          <a:solidFill>
            <a:srgbClr val="55EFC4"/>
          </a:solidFill>
          <a:ln w="19050">
            <a:solidFill>
              <a:srgbClr val="00B8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0695C"/>
                </a:solidFill>
                <a:latin typeface="Microsoft YaHei"/>
              </a:defRPr>
            </a:pPr>
            <a:r>
              <a:t>DWConv 3×3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43200" y="320040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66666"/>
                </a:solidFill>
                <a:latin typeface="Microsoft YaHei"/>
              </a:defRPr>
            </a:pPr>
            <a:r>
              <a:t>groups=96, pad=1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0" y="320040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2E"/>
                </a:solidFill>
                <a:latin typeface="Microsoft YaHei"/>
              </a:defRPr>
            </a:pPr>
            <a:r>
              <a:t>捕获细粒度局部特征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3749039"/>
            <a:ext cx="1828800" cy="411480"/>
          </a:xfrm>
          <a:prstGeom prst="roundRect">
            <a:avLst/>
          </a:prstGeom>
          <a:solidFill>
            <a:srgbClr val="55EFC4"/>
          </a:solidFill>
          <a:ln w="19050">
            <a:solidFill>
              <a:srgbClr val="00B8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0695C"/>
                </a:solidFill>
                <a:latin typeface="Microsoft YaHei"/>
              </a:defRPr>
            </a:pPr>
            <a:r>
              <a:t>DWConv 5×5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43200" y="3749039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66666"/>
                </a:solidFill>
                <a:latin typeface="Microsoft YaHei"/>
              </a:defRPr>
            </a:pPr>
            <a:r>
              <a:t>groups=96, pad=2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0" y="3749039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2E"/>
                </a:solidFill>
                <a:latin typeface="Microsoft YaHei"/>
              </a:defRPr>
            </a:pPr>
            <a:r>
              <a:t>捕获中等尺度局部特征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4297680"/>
            <a:ext cx="1828800" cy="411480"/>
          </a:xfrm>
          <a:prstGeom prst="roundRect">
            <a:avLst/>
          </a:prstGeom>
          <a:solidFill>
            <a:srgbClr val="55EFC4"/>
          </a:solidFill>
          <a:ln w="19050">
            <a:solidFill>
              <a:srgbClr val="00B8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0695C"/>
                </a:solidFill>
                <a:latin typeface="Microsoft YaHei"/>
              </a:defRPr>
            </a:pPr>
            <a:r>
              <a:t>DWConv 7×7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43200" y="429768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66666"/>
                </a:solidFill>
                <a:latin typeface="Microsoft YaHei"/>
              </a:defRPr>
            </a:pPr>
            <a:r>
              <a:t>groups=96, pad=3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0" y="429768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2E"/>
                </a:solidFill>
                <a:latin typeface="Microsoft YaHei"/>
              </a:defRPr>
            </a:pPr>
            <a:r>
              <a:t>捕获粗粒度局部特征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0" y="3200400"/>
            <a:ext cx="3200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A1A2E"/>
                </a:solidFill>
                <a:latin typeface="Microsoft YaHei"/>
              </a:defRPr>
            </a:pPr>
            <a:r>
              <a:t>融合方式：</a:t>
            </a:r>
            <a:br/>
            <a:r>
              <a:t>(conv3 + conv5 + conv7) / 3</a:t>
            </a:r>
            <a:br/>
            <a:r>
              <a:t>+ identity</a:t>
            </a:r>
            <a:br/>
            <a:r>
              <a:t>+ 1×1 Conv projector</a:t>
            </a:r>
            <a:br/>
            <a:br/>
            <a:r>
              <a:t>初始化：</a:t>
            </a:r>
            <a:br/>
            <a:r>
              <a:t>γ = 1×10⁻⁶ (几乎为零)</a:t>
            </a:r>
            <a:br/>
            <a:r>
              <a:t>γₓ = 1.0 (保留 identity)</a:t>
            </a:r>
            <a:br/>
            <a:r>
              <a:t>→ 初始时 ≈ 恒等映射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51206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F3460"/>
                </a:solidFill>
                <a:latin typeface="Microsoft YaHei"/>
              </a:defRPr>
            </a:pPr>
            <a:r>
              <a:t>关键参数</a:t>
            </a:r>
          </a:p>
        </p:txBody>
      </p:sp>
      <p:graphicFrame>
        <p:nvGraphicFramePr>
          <p:cNvPr id="25" name="Table 24"/>
          <p:cNvGraphicFramePr>
            <a:graphicFrameLocks noGrp="1"/>
          </p:cNvGraphicFramePr>
          <p:nvPr/>
        </p:nvGraphicFramePr>
        <p:xfrm>
          <a:off x="457200" y="5486400"/>
          <a:ext cx="11247120" cy="1188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49040"/>
                <a:gridCol w="3749040"/>
                <a:gridCol w="3749040"/>
              </a:tblGrid>
              <a:tr h="19812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参数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值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说明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</a:tr>
              <a:tr h="1981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bottleneck_dim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96 (768/8)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瓶颈维度</a:t>
                      </a:r>
                    </a:p>
                  </a:txBody>
                  <a:tcPr/>
                </a:tc>
              </a:tr>
              <a:tr h="1981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γ (gamma)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1×10⁻⁶ 初始化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控制适配器初始输出接近零</a:t>
                      </a:r>
                    </a:p>
                  </a:txBody>
                  <a:tcPr/>
                </a:tc>
              </a:tr>
              <a:tr h="1981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γₓ (gammax)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1.0 初始化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保留输入 identity</a:t>
                      </a:r>
                    </a:p>
                  </a:txBody>
                  <a:tcPr/>
                </a:tc>
              </a:tr>
              <a:tr h="1981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Dropout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0.1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正则化</a:t>
                      </a:r>
                    </a:p>
                  </a:txBody>
                  <a:tcPr/>
                </a:tc>
              </a:tr>
              <a:tr h="1981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串联数量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2 (adapter1 + adapter2)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两个 Mona 串联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F3460"/>
                </a:solidFill>
                <a:latin typeface="Microsoft YaHei"/>
              </a:defRPr>
            </a:pPr>
            <a:r>
              <a:t>FCAdapter 与 DualAttnAdapter 详细结构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097280"/>
            <a:ext cx="5303520" cy="2560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984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984E3"/>
                </a:solidFill>
                <a:latin typeface="Microsoft YaHei"/>
              </a:defRPr>
            </a:pPr>
            <a:r>
              <a:t>FCAdapter — 纯全连接基线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737360"/>
            <a:ext cx="685800" cy="457200"/>
          </a:xfrm>
          <a:prstGeom prst="roundRect">
            <a:avLst/>
          </a:prstGeom>
          <a:solidFill>
            <a:srgbClr val="DFE6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0">
                <a:solidFill>
                  <a:srgbClr val="1A1A2E"/>
                </a:solidFill>
                <a:latin typeface="Microsoft YaHei"/>
              </a:defRPr>
            </a:pPr>
            <a:r>
              <a:t>LN·γ+x·γₓ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417319" y="1737360"/>
            <a:ext cx="685800" cy="457200"/>
          </a:xfrm>
          <a:prstGeom prst="roundRect">
            <a:avLst/>
          </a:prstGeom>
          <a:solidFill>
            <a:srgbClr val="74B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0">
                <a:solidFill>
                  <a:srgbClr val="FFFFFF"/>
                </a:solidFill>
                <a:latin typeface="Microsoft YaHei"/>
              </a:defRPr>
            </a:pPr>
            <a:r>
              <a:t>768→96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194560" y="1737360"/>
            <a:ext cx="685800" cy="457200"/>
          </a:xfrm>
          <a:prstGeom prst="roundRect">
            <a:avLst/>
          </a:prstGeom>
          <a:solidFill>
            <a:srgbClr val="FAB1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0">
                <a:solidFill>
                  <a:srgbClr val="1A1A2E"/>
                </a:solidFill>
                <a:latin typeface="Microsoft YaHei"/>
              </a:defRPr>
            </a:pPr>
            <a:r>
              <a:t>GELU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971800" y="1737360"/>
            <a:ext cx="685800" cy="457200"/>
          </a:xfrm>
          <a:prstGeom prst="roundRect">
            <a:avLst/>
          </a:prstGeom>
          <a:solidFill>
            <a:srgbClr val="DFE6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0">
                <a:solidFill>
                  <a:srgbClr val="1A1A2E"/>
                </a:solidFill>
                <a:latin typeface="Microsoft YaHei"/>
              </a:defRPr>
            </a:pPr>
            <a:r>
              <a:t>Drop 0.1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749039" y="1737360"/>
            <a:ext cx="685800" cy="457200"/>
          </a:xfrm>
          <a:prstGeom prst="roundRect">
            <a:avLst/>
          </a:prstGeom>
          <a:solidFill>
            <a:srgbClr val="74B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0">
                <a:solidFill>
                  <a:srgbClr val="FFFFFF"/>
                </a:solidFill>
                <a:latin typeface="Microsoft YaHei"/>
              </a:defRPr>
            </a:pPr>
            <a:r>
              <a:t>96→768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26280" y="1737360"/>
            <a:ext cx="685800" cy="457200"/>
          </a:xfrm>
          <a:prstGeom prst="roundRect">
            <a:avLst/>
          </a:prstGeom>
          <a:solidFill>
            <a:srgbClr val="A29B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0">
                <a:solidFill>
                  <a:srgbClr val="1A1A2E"/>
                </a:solidFill>
                <a:latin typeface="Microsoft YaHei"/>
              </a:defRPr>
            </a:pPr>
            <a:r>
              <a:t>+残差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377440"/>
            <a:ext cx="49377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A1A2E"/>
                </a:solidFill>
                <a:latin typeface="Microsoft YaHei"/>
              </a:defRPr>
            </a:pPr>
            <a:r>
              <a:t>与 MoNA 的唯一区别：移除了 MonaOp (3/5/7 DWConv)</a:t>
            </a:r>
            <a:br/>
            <a:r>
              <a:t>仅保留通道瓶颈变换</a:t>
            </a:r>
            <a:br/>
            <a:r>
              <a:t>→ 直接测量多尺度空间卷积的边际贡献</a:t>
            </a:r>
            <a:br/>
            <a:br/>
            <a:r>
              <a:t>共享：仿射归一化、γ/γₓ 初始化、Dropout、残差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0" y="1097280"/>
            <a:ext cx="5303520" cy="5029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5334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0" y="118872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533483"/>
                </a:solidFill>
                <a:latin typeface="Microsoft YaHei"/>
              </a:defRPr>
            </a:pPr>
            <a:r>
              <a:t>DualAttnAdapter — PAM + CAM 并行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675120" y="1737360"/>
            <a:ext cx="2286000" cy="2011680"/>
          </a:xfrm>
          <a:prstGeom prst="roundRect">
            <a:avLst/>
          </a:prstGeom>
          <a:solidFill>
            <a:srgbClr val="E8F4F8"/>
          </a:solidFill>
          <a:ln w="19050">
            <a:solidFill>
              <a:srgbClr val="0984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766560" y="182880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984E3"/>
                </a:solidFill>
                <a:latin typeface="Microsoft YaHei"/>
              </a:defRPr>
            </a:pPr>
            <a:r>
              <a:t>PAM 位置注意力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66560" y="2103120"/>
            <a:ext cx="21031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000">
                <a:solidFill>
                  <a:srgbClr val="1A1A2E"/>
                </a:solidFill>
                <a:latin typeface="Microsoft YaHei"/>
              </a:defRPr>
            </a:pPr>
            <a:r>
              <a:t>Q,K: Conv1×1 C→C/8</a:t>
            </a:r>
          </a:p>
          <a:p>
            <a:pPr>
              <a:spcAft>
                <a:spcPts val="600"/>
              </a:spcAft>
              <a:defRPr sz="1000">
                <a:solidFill>
                  <a:srgbClr val="1A1A2E"/>
                </a:solidFill>
                <a:latin typeface="Microsoft YaHei"/>
              </a:defRPr>
            </a:pPr>
            <a:r>
              <a:t>V: Conv1×1 C→C</a:t>
            </a:r>
          </a:p>
          <a:p>
            <a:pPr>
              <a:spcAft>
                <a:spcPts val="600"/>
              </a:spcAft>
              <a:defRPr sz="1000">
                <a:solidFill>
                  <a:srgbClr val="1A1A2E"/>
                </a:solidFill>
                <a:latin typeface="Microsoft YaHei"/>
              </a:defRPr>
            </a:pPr>
            <a:r>
              <a:t>A = softmax(Qᵀ×K)</a:t>
            </a:r>
          </a:p>
          <a:p>
            <a:pPr>
              <a:spcAft>
                <a:spcPts val="600"/>
              </a:spcAft>
              <a:defRPr sz="1000">
                <a:solidFill>
                  <a:srgbClr val="1A1A2E"/>
                </a:solidFill>
                <a:latin typeface="Microsoft YaHei"/>
              </a:defRPr>
            </a:pPr>
            <a:r>
              <a:t>out = α·(V×Aᵀ)</a:t>
            </a:r>
          </a:p>
          <a:p>
            <a:pPr>
              <a:spcAft>
                <a:spcPts val="600"/>
              </a:spcAft>
              <a:defRPr sz="1000">
                <a:solidFill>
                  <a:srgbClr val="1A1A2E"/>
                </a:solidFill>
                <a:latin typeface="Microsoft YaHei"/>
              </a:defRPr>
            </a:pPr>
            <a:r>
              <a:t>α 初始化为 0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44000" y="1737360"/>
            <a:ext cx="2286000" cy="2011680"/>
          </a:xfrm>
          <a:prstGeom prst="roundRect">
            <a:avLst/>
          </a:prstGeom>
          <a:solidFill>
            <a:srgbClr val="F0E6FF"/>
          </a:solidFill>
          <a:ln w="19050">
            <a:solidFill>
              <a:srgbClr val="5334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235440" y="182880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533483"/>
                </a:solidFill>
                <a:latin typeface="Microsoft YaHei"/>
              </a:defRPr>
            </a:pPr>
            <a:r>
              <a:t>CAM 通道注意力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35440" y="2103120"/>
            <a:ext cx="21031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000">
                <a:solidFill>
                  <a:srgbClr val="1A1A2E"/>
                </a:solidFill>
                <a:latin typeface="Microsoft YaHei"/>
              </a:defRPr>
            </a:pPr>
            <a:r>
              <a:t>无参数化 Q/K/V</a:t>
            </a:r>
          </a:p>
          <a:p>
            <a:pPr>
              <a:spcAft>
                <a:spcPts val="600"/>
              </a:spcAft>
              <a:defRPr sz="1000">
                <a:solidFill>
                  <a:srgbClr val="1A1A2E"/>
                </a:solidFill>
                <a:latin typeface="Microsoft YaHei"/>
              </a:defRPr>
            </a:pPr>
            <a:r>
              <a:t>E = Q×K (B,C,C)</a:t>
            </a:r>
          </a:p>
          <a:p>
            <a:pPr>
              <a:spcAft>
                <a:spcPts val="600"/>
              </a:spcAft>
              <a:defRPr sz="1000">
                <a:solidFill>
                  <a:srgbClr val="1A1A2E"/>
                </a:solidFill>
                <a:latin typeface="Microsoft YaHei"/>
              </a:defRPr>
            </a:pPr>
            <a:r>
              <a:t>E' = max(E)-E (稳定)</a:t>
            </a:r>
          </a:p>
          <a:p>
            <a:pPr>
              <a:spcAft>
                <a:spcPts val="600"/>
              </a:spcAft>
              <a:defRPr sz="1000">
                <a:solidFill>
                  <a:srgbClr val="1A1A2E"/>
                </a:solidFill>
                <a:latin typeface="Microsoft YaHei"/>
              </a:defRPr>
            </a:pPr>
            <a:r>
              <a:t>out = β·softmax(E')·Q</a:t>
            </a:r>
          </a:p>
          <a:p>
            <a:pPr>
              <a:spcAft>
                <a:spcPts val="600"/>
              </a:spcAft>
              <a:defRPr sz="1000">
                <a:solidFill>
                  <a:srgbClr val="1A1A2E"/>
                </a:solidFill>
                <a:latin typeface="Microsoft YaHei"/>
              </a:defRPr>
            </a:pPr>
            <a:r>
              <a:t>β 初始化为 0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675120" y="3931920"/>
            <a:ext cx="4754880" cy="457200"/>
          </a:xfrm>
          <a:prstGeom prst="roundRect">
            <a:avLst/>
          </a:prstGeom>
          <a:solidFill>
            <a:srgbClr val="FFEA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6C5100"/>
                </a:solidFill>
                <a:latin typeface="Microsoft YaHei"/>
              </a:defRPr>
            </a:pPr>
            <a:r>
              <a:t>输出 = x + (PAM(X_2d) + CAM(X_2d)) / 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75120" y="4572000"/>
            <a:ext cx="47548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A1A2E"/>
                </a:solidFill>
                <a:latin typeface="Microsoft YaHei"/>
              </a:defRPr>
            </a:pPr>
            <a:r>
              <a:t>与 MoNA/FC 的结构差异：</a:t>
            </a:r>
            <a:br/>
            <a:r>
              <a:t>• 无仿射归一化（直接操作原始特征）</a:t>
            </a:r>
            <a:br/>
            <a:r>
              <a:t>• 无瓶颈压缩（PAM 的 QK 降维仅限注意力计算）</a:t>
            </a:r>
            <a:br/>
            <a:r>
              <a:t>• α/β=0 初始化 vs γ=1e-6 初始化</a:t>
            </a:r>
            <a:br/>
            <a:r>
              <a:t>• 参数量和计算复杂度更高——消融目标是归纳偏置类型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41148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F3460"/>
                </a:solidFill>
                <a:latin typeface="Microsoft YaHei"/>
              </a:defRPr>
            </a:pPr>
            <a:r>
              <a:t>三种适配器结构对比</a:t>
            </a:r>
          </a:p>
        </p:txBody>
      </p:sp>
      <p:graphicFrame>
        <p:nvGraphicFramePr>
          <p:cNvPr id="23" name="Table 22"/>
          <p:cNvGraphicFramePr>
            <a:graphicFrameLocks noGrp="1"/>
          </p:cNvGraphicFramePr>
          <p:nvPr/>
        </p:nvGraphicFramePr>
        <p:xfrm>
          <a:off x="457200" y="4480560"/>
          <a:ext cx="530352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5880"/>
                <a:gridCol w="1325880"/>
                <a:gridCol w="1325880"/>
                <a:gridCol w="1325880"/>
              </a:tblGrid>
              <a:tr h="27432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属性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MoNA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FCAdapter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DualAttn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空间建模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局部多尺度3/5/7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无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全局自注意力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通道建模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线性瓶颈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线性瓶颈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通道自注意力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瓶颈维度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96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96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无瓶颈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零初始化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γ=10⁻⁶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γ=10⁻⁶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α=β=0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F3460"/>
                </a:solidFill>
                <a:latin typeface="Microsoft YaHei"/>
              </a:defRPr>
            </a:pPr>
            <a:r>
              <a:t>深度分支 Transformer 消融（--depth_transformer_type）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94560"/>
                </a:solidFill>
                <a:latin typeface="Microsoft YaHei"/>
              </a:defRPr>
            </a:pPr>
            <a:r>
              <a:t>HTML 文档中未提及的消融维度——源码中发现的额外选项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463040"/>
            <a:ext cx="5303520" cy="32004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984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984E3"/>
                </a:solidFill>
                <a:latin typeface="Microsoft YaHei"/>
              </a:defRPr>
            </a:pPr>
            <a:r>
              <a:t>TwoWayTransformer（默认）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011680"/>
            <a:ext cx="49377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1A1A2E"/>
                </a:solidFill>
                <a:latin typeface="Microsoft YaHei"/>
              </a:defRPr>
            </a:pPr>
            <a:r>
              <a:t>SAM 原生结构，2 层 TwoWayAttentionBlock</a:t>
            </a:r>
          </a:p>
          <a:p>
            <a:pPr>
              <a:spcAft>
                <a:spcPts val="600"/>
              </a:spcAft>
              <a:defRPr sz="1200">
                <a:solidFill>
                  <a:srgbClr val="1A1A2E"/>
                </a:solidFill>
                <a:latin typeface="Microsoft YaHei"/>
              </a:defRPr>
            </a:pPr>
            <a:r>
              <a:t>每层：token self-attn → token→image cross-attn → MLP → image→token cross-attn</a:t>
            </a:r>
          </a:p>
          <a:p>
            <a:pPr>
              <a:spcAft>
                <a:spcPts val="600"/>
              </a:spcAft>
              <a:defRPr sz="1200">
                <a:solidFill>
                  <a:srgbClr val="1A1A2E"/>
                </a:solidFill>
                <a:latin typeface="Microsoft YaHei"/>
              </a:defRPr>
            </a:pPr>
            <a:r>
              <a:t>权重从 SAM mask_decoder.transformer 迁移</a:t>
            </a:r>
          </a:p>
          <a:p>
            <a:pPr>
              <a:spcAft>
                <a:spcPts val="600"/>
              </a:spcAft>
              <a:defRPr sz="1200">
                <a:solidFill>
                  <a:srgbClr val="1A1A2E"/>
                </a:solidFill>
                <a:latin typeface="Microsoft YaHei"/>
              </a:defRPr>
            </a:pPr>
            <a:r>
              <a:t>d=2, h=8, mlp_dim=2048</a:t>
            </a:r>
          </a:p>
          <a:p>
            <a:pPr>
              <a:spcAft>
                <a:spcPts val="600"/>
              </a:spcAft>
              <a:defRPr sz="1200">
                <a:solidFill>
                  <a:srgbClr val="1A1A2E"/>
                </a:solidFill>
                <a:latin typeface="Microsoft YaHei"/>
              </a:defRPr>
            </a:pPr>
          </a:p>
          <a:p>
            <a:pPr>
              <a:spcAft>
                <a:spcPts val="600"/>
              </a:spcAft>
              <a:defRPr sz="1200">
                <a:solidFill>
                  <a:srgbClr val="1A1A2E"/>
                </a:solidFill>
                <a:latin typeface="Microsoft YaHei"/>
              </a:defRPr>
            </a:pPr>
            <a:r>
              <a:t>优势：继承 SAM 已学到的注意力模式</a:t>
            </a:r>
          </a:p>
          <a:p>
            <a:pPr>
              <a:spcAft>
                <a:spcPts val="600"/>
              </a:spcAft>
              <a:defRPr sz="1200">
                <a:solidFill>
                  <a:srgbClr val="1A1A2E"/>
                </a:solidFill>
                <a:latin typeface="Microsoft YaHei"/>
              </a:defRPr>
            </a:pPr>
            <a:r>
              <a:t>风险：SAM 学到的注意力模式是否适合深度任务？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1463040"/>
            <a:ext cx="5303520" cy="32004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5334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0" y="155448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533483"/>
                </a:solidFill>
                <a:latin typeface="Microsoft YaHei"/>
              </a:defRPr>
            </a:pPr>
            <a:r>
              <a:t>DualAttnTransformer（新增）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0" y="2011680"/>
            <a:ext cx="49377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1A1A2E"/>
                </a:solidFill>
                <a:latin typeface="Microsoft YaHei"/>
              </a:defRPr>
            </a:pPr>
            <a:r>
              <a:t>PAM+CAM 替换 token self-attention</a:t>
            </a:r>
          </a:p>
          <a:p>
            <a:pPr>
              <a:spcAft>
                <a:spcPts val="600"/>
              </a:spcAft>
              <a:defRPr sz="1200">
                <a:solidFill>
                  <a:srgbClr val="1A1A2E"/>
                </a:solidFill>
                <a:latin typeface="Microsoft YaHei"/>
              </a:defRPr>
            </a:pPr>
            <a:r>
              <a:t>每层：PAM+CAM增强image → token→image cross-attn → MLP → image→token cross-attn</a:t>
            </a:r>
          </a:p>
          <a:p>
            <a:pPr>
              <a:spcAft>
                <a:spcPts val="600"/>
              </a:spcAft>
              <a:defRPr sz="1200">
                <a:solidFill>
                  <a:srgbClr val="1A1A2E"/>
                </a:solidFill>
                <a:latin typeface="Microsoft YaHei"/>
              </a:defRPr>
            </a:pPr>
            <a:r>
              <a:t>随机初始化（与 SAM Transformer 结构不兼容）</a:t>
            </a:r>
          </a:p>
          <a:p>
            <a:pPr>
              <a:spcAft>
                <a:spcPts val="600"/>
              </a:spcAft>
              <a:defRPr sz="1200">
                <a:solidFill>
                  <a:srgbClr val="1A1A2E"/>
                </a:solidFill>
                <a:latin typeface="Microsoft YaHei"/>
              </a:defRPr>
            </a:pPr>
            <a:r>
              <a:t>d=2, h=8, mlp_dim=2048</a:t>
            </a:r>
          </a:p>
          <a:p>
            <a:pPr>
              <a:spcAft>
                <a:spcPts val="600"/>
              </a:spcAft>
              <a:defRPr sz="1200">
                <a:solidFill>
                  <a:srgbClr val="1A1A2E"/>
                </a:solidFill>
                <a:latin typeface="Microsoft YaHei"/>
              </a:defRPr>
            </a:pPr>
          </a:p>
          <a:p>
            <a:pPr>
              <a:spcAft>
                <a:spcPts val="600"/>
              </a:spcAft>
              <a:defRPr sz="1200">
                <a:solidFill>
                  <a:srgbClr val="1A1A2E"/>
                </a:solidFill>
                <a:latin typeface="Microsoft YaHei"/>
              </a:defRPr>
            </a:pPr>
            <a:r>
              <a:t>优势：全局空间+通道注意力增强图像特征</a:t>
            </a:r>
          </a:p>
          <a:p>
            <a:pPr>
              <a:spcAft>
                <a:spcPts val="600"/>
              </a:spcAft>
              <a:defRPr sz="1200">
                <a:solidFill>
                  <a:srgbClr val="1A1A2E"/>
                </a:solidFill>
                <a:latin typeface="Microsoft YaHei"/>
              </a:defRPr>
            </a:pPr>
            <a:r>
              <a:t>风险：随机初始化 vs 迁移权重的差距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50292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F3460"/>
                </a:solidFill>
                <a:latin typeface="Microsoft YaHei"/>
              </a:defRPr>
            </a:pPr>
            <a:r>
              <a:t>关键对比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457200" y="5394960"/>
          <a:ext cx="11247120" cy="1188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49040"/>
                <a:gridCol w="3749040"/>
                <a:gridCol w="3749040"/>
              </a:tblGrid>
              <a:tr h="237744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维度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TwoWayTransformer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DualAttnTransformer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结构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SAM 原生，token self-attention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PAM+CAM 增强 image features</a:t>
                      </a:r>
                    </a:p>
                  </a:txBody>
                  <a:tcPr/>
                </a:tc>
              </a:tr>
              <a:tr h="237744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权重初始化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从 SAM mask_decoder 迁移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完全随机初始化（跳过迁移）</a:t>
                      </a:r>
                    </a:p>
                  </a:txBody>
                  <a:tcPr/>
                </a:tc>
              </a:tr>
              <a:tr h="237744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与适配器关系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独立于编码器适配器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可与编码器适配器中的 DualAttn 搭配</a:t>
                      </a:r>
                    </a:p>
                  </a:txBody>
                  <a:tcPr/>
                </a:tc>
              </a:tr>
              <a:tr h="237744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实验价值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基线：迁移学习的上限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探索：新架构是否能超越迁移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F3460"/>
                </a:solidFill>
                <a:latin typeface="Microsoft YaHei"/>
              </a:defRPr>
            </a:pPr>
            <a:r>
              <a:t>DINOv3 方向训练策略 — 与 SAM 方案的差异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188720"/>
            <a:ext cx="11247120" cy="2560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984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984E3"/>
                </a:solidFill>
                <a:latin typeface="Microsoft YaHei"/>
              </a:defRPr>
            </a:pPr>
            <a:r>
              <a:t>Phase 1 对比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1737360"/>
          <a:ext cx="1078992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96640"/>
                <a:gridCol w="3596640"/>
                <a:gridCol w="3596640"/>
              </a:tblGrid>
              <a:tr h="329184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</a:p>
                  </a:txBody>
                  <a:tcPr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SAM 方案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DINOv3 方案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冻结组件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Image Encoder + 深度分支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DINOv3 骨干 + SAM ViT-B + 深度分支</a:t>
                      </a:r>
                    </a:p>
                  </a:txBody>
                  <a:tcPr/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可训练组件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PromptEncoder + MaskDecoder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Adapter1&amp;2 + Projection + PE + MD</a:t>
                      </a:r>
                    </a:p>
                  </a:txBody>
                  <a:tcPr/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编码器可训练部分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无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适配器 + 投影层 ← 核心区别</a:t>
                      </a:r>
                    </a:p>
                  </a:txBody>
                  <a:tcPr/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预处理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ResizeLongestSide + padding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直接 resize 到 1024²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457200" y="4114800"/>
            <a:ext cx="11247120" cy="13716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5334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42062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533483"/>
                </a:solidFill>
                <a:latin typeface="Microsoft YaHei"/>
              </a:defRPr>
            </a:pPr>
            <a:r>
              <a:t>Phase 2：两种方案完全一致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5720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1A1A2E"/>
                </a:solidFill>
                <a:latin typeface="Microsoft YaHei"/>
              </a:defRPr>
            </a:pPr>
            <a:r>
              <a:t>• 冻结所有 Phase 1 参数（DINOv3 方案中适配器也被冻结）</a:t>
            </a:r>
          </a:p>
          <a:p>
            <a:pPr>
              <a:spcAft>
                <a:spcPts val="600"/>
              </a:spcAft>
              <a:defRPr sz="1300">
                <a:solidFill>
                  <a:srgbClr val="1A1A2E"/>
                </a:solidFill>
                <a:latin typeface="Microsoft YaHei"/>
              </a:defRPr>
            </a:pPr>
            <a:r>
              <a:t>• 仅 outer_prompt_encoder + DepthMaskDecoder 可训练</a:t>
            </a:r>
          </a:p>
          <a:p>
            <a:pPr>
              <a:spcAft>
                <a:spcPts val="600"/>
              </a:spcAft>
              <a:defRPr sz="1300">
                <a:solidFill>
                  <a:srgbClr val="1A1A2E"/>
                </a:solidFill>
                <a:latin typeface="Microsoft YaHei"/>
              </a:defRPr>
            </a:pPr>
            <a:r>
              <a:t>• 损失函数、优化器、调度器完全一致 → 保证消融公平性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5669280"/>
            <a:ext cx="11247120" cy="914400"/>
          </a:xfrm>
          <a:prstGeom prst="roundRect">
            <a:avLst/>
          </a:prstGeom>
          <a:solidFill>
            <a:srgbClr val="FFF3E0"/>
          </a:solidFill>
          <a:ln w="19050">
            <a:solidFill>
              <a:srgbClr val="FF9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5760720"/>
            <a:ext cx="10789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65100"/>
                </a:solidFill>
                <a:latin typeface="Microsoft YaHei"/>
              </a:defRPr>
            </a:pPr>
            <a:r>
              <a:t>消融意义：Phase 1 的差异 = 编码器表征能力的差异</a:t>
            </a:r>
            <a:br/>
            <a:r>
              <a:t>Phase 2 一致 → 深度性能差异可完全归因于编码器特征质量 + 适配器设计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Microsoft YaHei"/>
              </a:defRPr>
            </a:pPr>
            <a:r>
              <a:t>★ DINOv3 方向完整消融实验矩阵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EAA7"/>
                </a:solidFill>
                <a:latin typeface="Microsoft YaHei"/>
              </a:defRPr>
            </a:pPr>
            <a:r>
              <a:t>三个层次的消融：编码器级 → 适配器级 → 解码器级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11247120" cy="1097280"/>
          </a:xfrm>
          <a:prstGeom prst="roundRect">
            <a:avLst/>
          </a:prstGeom>
          <a:solidFill>
            <a:srgbClr val="1E2D4A"/>
          </a:solidFill>
          <a:ln w="19050">
            <a:solidFill>
              <a:srgbClr val="E945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94560"/>
                </a:solidFill>
                <a:latin typeface="Microsoft YaHei"/>
              </a:defRPr>
            </a:pPr>
            <a:r>
              <a:t>层次 1：编码器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737360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CCDD"/>
                </a:solidFill>
                <a:latin typeface="Microsoft YaHei"/>
              </a:defRPr>
            </a:pPr>
            <a:r>
              <a:t>--encoder: sam ↔ dinov3</a:t>
            </a:r>
            <a:br/>
            <a:r>
              <a:t>最顶层消融 — 两个 PPT 方向的对比即是此维度的实验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11247120" cy="1828800"/>
          </a:xfrm>
          <a:prstGeom prst="roundRect">
            <a:avLst/>
          </a:prstGeom>
          <a:solidFill>
            <a:srgbClr val="1E2D4A"/>
          </a:solidFill>
          <a:ln w="19050">
            <a:solidFill>
              <a:srgbClr val="00B8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7432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B894"/>
                </a:solidFill>
                <a:latin typeface="Microsoft YaHei"/>
              </a:defRPr>
            </a:pPr>
            <a:r>
              <a:t>层次 2：适配器（DINOv3 专有）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40080" y="3108960"/>
          <a:ext cx="10789920" cy="1188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97480"/>
                <a:gridCol w="2697480"/>
                <a:gridCol w="2697480"/>
                <a:gridCol w="2697480"/>
              </a:tblGrid>
              <a:tr h="29718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实验</a:t>
                      </a:r>
                    </a:p>
                  </a:txBody>
                  <a:tcPr>
                    <a:solidFill>
                      <a:srgbClr val="00B89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适配器</a:t>
                      </a:r>
                    </a:p>
                  </a:txBody>
                  <a:tcPr>
                    <a:solidFill>
                      <a:srgbClr val="00B89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核心变换</a:t>
                      </a:r>
                    </a:p>
                  </a:txBody>
                  <a:tcPr>
                    <a:solidFill>
                      <a:srgbClr val="00B89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评估重点</a:t>
                      </a:r>
                    </a:p>
                  </a:txBody>
                  <a:tcPr>
                    <a:solidFill>
                      <a:srgbClr val="00B894"/>
                    </a:solidFill>
                  </a:tcPr>
                </a:tc>
              </a:tr>
              <a:tr h="2971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F1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MoNA (默认)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多尺度 DWConv 3/5/7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局部空间信息的贡献</a:t>
                      </a:r>
                    </a:p>
                  </a:txBody>
                  <a:tcPr/>
                </a:tc>
              </a:tr>
              <a:tr h="2971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F2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FCAdapter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纯通道 MLP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基线：无空间操作的下限</a:t>
                      </a:r>
                    </a:p>
                  </a:txBody>
                  <a:tcPr/>
                </a:tc>
              </a:tr>
              <a:tr h="2971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F3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DualAttnAdapter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PAM + CAM 全局注意力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全局上下文 vs 局部卷积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457200" y="4663440"/>
            <a:ext cx="11247120" cy="1371600"/>
          </a:xfrm>
          <a:prstGeom prst="roundRect">
            <a:avLst/>
          </a:prstGeom>
          <a:solidFill>
            <a:srgbClr val="1E2D4A"/>
          </a:solidFill>
          <a:ln w="19050">
            <a:solidFill>
              <a:srgbClr val="5334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47548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533483"/>
                </a:solidFill>
                <a:latin typeface="Microsoft YaHei"/>
              </a:defRPr>
            </a:pPr>
            <a:r>
              <a:t>层次 3：深度分支 Transformer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40080" y="5120640"/>
          <a:ext cx="10789920" cy="73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97480"/>
                <a:gridCol w="2697480"/>
                <a:gridCol w="2697480"/>
                <a:gridCol w="2697480"/>
              </a:tblGrid>
              <a:tr h="24384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实验</a:t>
                      </a:r>
                    </a:p>
                  </a:txBody>
                  <a:tcPr>
                    <a:solidFill>
                      <a:srgbClr val="53348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Transformer</a:t>
                      </a:r>
                    </a:p>
                  </a:txBody>
                  <a:tcPr>
                    <a:solidFill>
                      <a:srgbClr val="53348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权重初始化</a:t>
                      </a:r>
                    </a:p>
                  </a:txBody>
                  <a:tcPr>
                    <a:solidFill>
                      <a:srgbClr val="53348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评估重点</a:t>
                      </a:r>
                    </a:p>
                  </a:txBody>
                  <a:tcPr>
                    <a:solidFill>
                      <a:srgbClr val="533483"/>
                    </a:solidFill>
                  </a:tcPr>
                </a:tc>
              </a:tr>
              <a:tr h="24384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G1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TwoWay (默认)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SAM 迁移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迁移学习的效果</a:t>
                      </a:r>
                    </a:p>
                  </a:txBody>
                  <a:tcPr/>
                </a:tc>
              </a:tr>
              <a:tr h="24384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G2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DualAttn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随机初始化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新架构 vs 迁移学习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457200" y="62179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EAA7"/>
                </a:solidFill>
                <a:latin typeface="Microsoft YaHei"/>
              </a:defRPr>
            </a:pPr>
            <a:r>
              <a:t>交叉消融：F1-F3 × G1-G2 = 6 组实验 + 共享迭代参数消融 B/C/D（SAM PPT 中的维度）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F3460"/>
                </a:solidFill>
                <a:latin typeface="Microsoft YaHei"/>
              </a:defRPr>
            </a:pPr>
            <a:r>
              <a:t>消融实验具体方案 &amp; 优先级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1097280"/>
          <a:ext cx="1161288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35480"/>
                <a:gridCol w="1935480"/>
                <a:gridCol w="1935480"/>
                <a:gridCol w="1935480"/>
                <a:gridCol w="1935480"/>
                <a:gridCol w="1935480"/>
              </a:tblGrid>
              <a:tr h="326571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编号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层次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变量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基线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指标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优先级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</a:tr>
              <a:tr h="326571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SAM vs DINOv3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编码器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sam ↔ dinov3 (MoNA)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sam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Dice/IoU + MAE/R²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🔴 P0</a:t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F1 vs F2 vs F3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适配器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mona ↔ fc ↔ dual_attn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mona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Dice/IoU + MAE/R²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🔴 P0</a:t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G1 vs G2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Depth Trans.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twoway ↔ dual_attn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twoway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Depth MAE/R²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🔴 P0</a:t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F×G 交叉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适配器×Trans.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3 adapter × 2 trans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mona+twoway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全部指标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🟡 P1</a:t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B1-B4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迭代次数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n_sub=1,2,3,4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n_sub=1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Dice + MAE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🟡 P1</a:t>
                      </a:r>
                    </a:p>
                  </a:txBody>
                  <a:tcPr/>
                </a:tc>
              </a:tr>
              <a:tr h="326574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C1-C5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掩码传入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prob=0~1.0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prob=0.5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Dice + MAE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🟢 P2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Rounded Rectangle 3"/>
          <p:cNvSpPr/>
          <p:nvPr/>
        </p:nvSpPr>
        <p:spPr>
          <a:xfrm>
            <a:off x="457200" y="3657600"/>
            <a:ext cx="11247120" cy="13716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F9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3749039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9800"/>
                </a:solidFill>
                <a:latin typeface="Microsoft YaHei"/>
              </a:defRPr>
            </a:pPr>
            <a:r>
              <a:t>实验工作量估算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114800"/>
            <a:ext cx="10789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1A1A2E"/>
                </a:solidFill>
                <a:latin typeface="Microsoft YaHei"/>
              </a:defRPr>
            </a:pPr>
            <a:r>
              <a:t>P0 必做实验：编码器对比(2) + 适配器消融(3) + Transformer消融(2) = 7 组</a:t>
            </a:r>
          </a:p>
          <a:p>
            <a:pPr>
              <a:spcAft>
                <a:spcPts val="600"/>
              </a:spcAft>
              <a:defRPr sz="1300">
                <a:solidFill>
                  <a:srgbClr val="1A1A2E"/>
                </a:solidFill>
                <a:latin typeface="Microsoft YaHei"/>
              </a:defRPr>
            </a:pPr>
            <a:r>
              <a:t>P1 推荐实验：交叉消融(6) + 迭代消融(4) = 10 组</a:t>
            </a:r>
          </a:p>
          <a:p>
            <a:pPr>
              <a:spcAft>
                <a:spcPts val="600"/>
              </a:spcAft>
              <a:defRPr sz="1300">
                <a:solidFill>
                  <a:srgbClr val="1A1A2E"/>
                </a:solidFill>
                <a:latin typeface="Microsoft YaHei"/>
              </a:defRPr>
            </a:pPr>
            <a:r>
              <a:t>P2 可选实验：掩码概率(5) + 其他超参 = ~8 组</a:t>
            </a:r>
          </a:p>
          <a:p>
            <a:pPr>
              <a:spcAft>
                <a:spcPts val="600"/>
              </a:spcAft>
              <a:defRPr sz="1300">
                <a:solidFill>
                  <a:srgbClr val="1A1A2E"/>
                </a:solidFill>
                <a:latin typeface="Microsoft YaHei"/>
              </a:defRPr>
            </a:pPr>
            <a:r>
              <a:t>每组实验 = Phase1(50 epoch) + Phase2(50 epoch)，总计 25 组起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3035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94560"/>
                </a:solidFill>
                <a:latin typeface="Microsoft YaHei"/>
              </a:defRPr>
            </a:pPr>
            <a:r>
              <a:t>建议实验顺序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66928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1A1A2E"/>
                </a:solidFill>
                <a:latin typeface="Microsoft YaHei"/>
              </a:defRPr>
            </a:pPr>
            <a:r>
              <a:t>Step 1：先跑 SAM 基线 (twoway) 作为所有对比的 anchor</a:t>
            </a:r>
          </a:p>
          <a:p>
            <a:pPr>
              <a:spcAft>
                <a:spcPts val="600"/>
              </a:spcAft>
              <a:defRPr sz="1300">
                <a:solidFill>
                  <a:srgbClr val="1A1A2E"/>
                </a:solidFill>
                <a:latin typeface="Microsoft YaHei"/>
              </a:defRPr>
            </a:pPr>
            <a:r>
              <a:t>Step 2：跑 DINOv3 + MoNA (twoway) 确认编码器替换的基本效果</a:t>
            </a:r>
          </a:p>
          <a:p>
            <a:pPr>
              <a:spcAft>
                <a:spcPts val="600"/>
              </a:spcAft>
              <a:defRPr sz="1300">
                <a:solidFill>
                  <a:srgbClr val="1A1A2E"/>
                </a:solidFill>
                <a:latin typeface="Microsoft YaHei"/>
              </a:defRPr>
            </a:pPr>
            <a:r>
              <a:t>Step 3：三种适配器消融 (F1-F3)，固定 twoway</a:t>
            </a:r>
          </a:p>
          <a:p>
            <a:pPr>
              <a:spcAft>
                <a:spcPts val="600"/>
              </a:spcAft>
              <a:defRPr sz="1300">
                <a:solidFill>
                  <a:srgbClr val="1A1A2E"/>
                </a:solidFill>
                <a:latin typeface="Microsoft YaHei"/>
              </a:defRPr>
            </a:pPr>
            <a:r>
              <a:t>Step 4：最佳适配器 × dual_attn Transformer (G2)</a:t>
            </a:r>
          </a:p>
          <a:p>
            <a:pPr>
              <a:spcAft>
                <a:spcPts val="600"/>
              </a:spcAft>
              <a:defRPr sz="1300">
                <a:solidFill>
                  <a:srgbClr val="1A1A2E"/>
                </a:solidFill>
                <a:latin typeface="Microsoft YaHei"/>
              </a:defRPr>
            </a:pPr>
            <a:r>
              <a:t>Step 5：最佳配置上跑迭代消融 (B1-B4)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F3460"/>
                </a:solidFill>
                <a:latin typeface="Microsoft YaHei"/>
              </a:defRPr>
            </a:pPr>
            <a:r>
              <a:t>与老师讨论的开放问题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188720"/>
            <a:ext cx="11247120" cy="1645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B8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2344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B894"/>
                </a:solidFill>
                <a:latin typeface="Microsoft YaHei"/>
              </a:defRPr>
            </a:pPr>
            <a:r>
              <a:t>适配器设计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7899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1A1A2E"/>
                </a:solidFill>
                <a:latin typeface="Microsoft YaHei"/>
              </a:defRPr>
            </a:pPr>
            <a:r>
              <a:t>1. DualAttnAdapter 没有瓶颈压缩，参数量与 MoNA/FC 不同——是否影响公平对比？</a:t>
            </a:r>
          </a:p>
          <a:p>
            <a:pPr>
              <a:spcAft>
                <a:spcPts val="600"/>
              </a:spcAft>
              <a:defRPr sz="1300">
                <a:solidFill>
                  <a:srgbClr val="1A1A2E"/>
                </a:solidFill>
                <a:latin typeface="Microsoft YaHei"/>
              </a:defRPr>
            </a:pPr>
            <a:r>
              <a:t>2. 是否需要增加更多适配器类型（如 LoRA、Spatial Adapter）扩展消融维度？</a:t>
            </a:r>
          </a:p>
          <a:p>
            <a:pPr>
              <a:spcAft>
                <a:spcPts val="600"/>
              </a:spcAft>
              <a:defRPr sz="1300">
                <a:solidFill>
                  <a:srgbClr val="1A1A2E"/>
                </a:solidFill>
                <a:latin typeface="Microsoft YaHei"/>
              </a:defRPr>
            </a:pPr>
            <a:r>
              <a:t>3. 适配器串联 2 个是否最优？1 个 / 3 个的消融是否有必要？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3017520"/>
            <a:ext cx="11247120" cy="1645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5334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30632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533483"/>
                </a:solidFill>
                <a:latin typeface="Microsoft YaHei"/>
              </a:defRPr>
            </a:pPr>
            <a:r>
              <a:t>架构决策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383280"/>
            <a:ext cx="107899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1A1A2E"/>
                </a:solidFill>
                <a:latin typeface="Microsoft YaHei"/>
              </a:defRPr>
            </a:pPr>
            <a:r>
              <a:t>4. DINOv3 直接 resize (不保持宽高比) 是否导致形变影响性能？</a:t>
            </a:r>
          </a:p>
          <a:p>
            <a:pPr>
              <a:spcAft>
                <a:spcPts val="600"/>
              </a:spcAft>
              <a:defRPr sz="1300">
                <a:solidFill>
                  <a:srgbClr val="1A1A2E"/>
                </a:solidFill>
                <a:latin typeface="Microsoft YaHei"/>
              </a:defRPr>
            </a:pPr>
            <a:r>
              <a:t>5. depth_transformer_type=dual_attn 跳过权重迁移——是否应设计兼容的迁移方案？</a:t>
            </a:r>
          </a:p>
          <a:p>
            <a:pPr>
              <a:spcAft>
                <a:spcPts val="600"/>
              </a:spcAft>
              <a:defRPr sz="1300">
                <a:solidFill>
                  <a:srgbClr val="1A1A2E"/>
                </a:solidFill>
                <a:latin typeface="Microsoft YaHei"/>
              </a:defRPr>
            </a:pPr>
            <a:r>
              <a:t>6. 编码器适配器中的 DualAttn 与深度分支的 DualAttnTransformer 是否有协同效应？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4846320"/>
            <a:ext cx="11247120" cy="1645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F9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48920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9800"/>
                </a:solidFill>
                <a:latin typeface="Microsoft YaHei"/>
              </a:defRPr>
            </a:pPr>
            <a:r>
              <a:t>实验方法论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212080"/>
            <a:ext cx="107899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1A1A2E"/>
                </a:solidFill>
                <a:latin typeface="Microsoft YaHei"/>
              </a:defRPr>
            </a:pPr>
            <a:r>
              <a:t>7. 消融实验是否需要多次随机种子求均值和标准差？</a:t>
            </a:r>
          </a:p>
          <a:p>
            <a:pPr>
              <a:spcAft>
                <a:spcPts val="600"/>
              </a:spcAft>
              <a:defRPr sz="1300">
                <a:solidFill>
                  <a:srgbClr val="1A1A2E"/>
                </a:solidFill>
                <a:latin typeface="Microsoft YaHei"/>
              </a:defRPr>
            </a:pPr>
            <a:r>
              <a:t>8. 交叉消融 (F×G) 的 6 组实验是否过多？哪些组合可以跳过？</a:t>
            </a:r>
          </a:p>
          <a:p>
            <a:pPr>
              <a:spcAft>
                <a:spcPts val="600"/>
              </a:spcAft>
              <a:defRPr sz="1300">
                <a:solidFill>
                  <a:srgbClr val="1A1A2E"/>
                </a:solidFill>
                <a:latin typeface="Microsoft YaHei"/>
              </a:defRPr>
            </a:pPr>
            <a:r>
              <a:t>9. 论文中应如何组织这些消融结果——分层展示还是单一大表？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Microsoft YaHei"/>
              </a:defRPr>
            </a:pPr>
            <a:r>
              <a:t>★ 两方向消融实验全景图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EAA7"/>
                </a:solidFill>
                <a:latin typeface="Microsoft YaHei"/>
              </a:defRPr>
            </a:pPr>
            <a:r>
              <a:t>SAM 方向 + DINOv3 方向 = 完整消融实验体系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1645920" cy="548640"/>
          </a:xfrm>
          <a:prstGeom prst="round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最顶层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86000" y="1371600"/>
            <a:ext cx="2286000" cy="548640"/>
          </a:xfrm>
          <a:prstGeom prst="roundRect">
            <a:avLst/>
          </a:prstGeom>
          <a:solidFill>
            <a:srgbClr val="1E2D4A"/>
          </a:solidFill>
          <a:ln w="19050">
            <a:solidFill>
              <a:srgbClr val="E945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E94560"/>
                </a:solidFill>
                <a:latin typeface="Microsoft YaHei"/>
              </a:defRPr>
            </a:pPr>
            <a:r>
              <a:t>编码器选择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0" y="137160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CCDD"/>
                </a:solidFill>
                <a:latin typeface="Microsoft YaHei"/>
              </a:defRPr>
            </a:pPr>
            <a:r>
              <a:t>--encoder sam | dinov3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0" y="137160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9AABB"/>
                </a:solidFill>
                <a:latin typeface="Microsoft YaHei"/>
              </a:defRPr>
            </a:pPr>
            <a:r>
              <a:t>跨两个 PPT 方向的对比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103120"/>
            <a:ext cx="1645920" cy="548640"/>
          </a:xfrm>
          <a:prstGeom prst="roundRect">
            <a:avLst/>
          </a:prstGeom>
          <a:solidFill>
            <a:srgbClr val="00B8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编码器级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286000" y="2103120"/>
            <a:ext cx="2286000" cy="548640"/>
          </a:xfrm>
          <a:prstGeom prst="roundRect">
            <a:avLst/>
          </a:prstGeom>
          <a:solidFill>
            <a:srgbClr val="1E2D4A"/>
          </a:solidFill>
          <a:ln w="19050">
            <a:solidFill>
              <a:srgbClr val="00B8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00B894"/>
                </a:solidFill>
                <a:latin typeface="Microsoft YaHei"/>
              </a:defRPr>
            </a:pPr>
            <a:r>
              <a:t>适配器类型 (DINOv3)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0" y="210312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CCDD"/>
                </a:solidFill>
                <a:latin typeface="Microsoft YaHei"/>
              </a:defRPr>
            </a:pPr>
            <a:r>
              <a:t>--adapter_type mona|fc|dual_attn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0" y="210312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9AABB"/>
                </a:solidFill>
                <a:latin typeface="Microsoft YaHei"/>
              </a:defRPr>
            </a:pPr>
            <a:r>
              <a:t>三种归纳偏置消融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2834640"/>
            <a:ext cx="1645920" cy="548640"/>
          </a:xfrm>
          <a:prstGeom prst="roundRect">
            <a:avLst/>
          </a:prstGeom>
          <a:solidFill>
            <a:srgbClr val="5334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解码器级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286000" y="2834640"/>
            <a:ext cx="2286000" cy="548640"/>
          </a:xfrm>
          <a:prstGeom prst="roundRect">
            <a:avLst/>
          </a:prstGeom>
          <a:solidFill>
            <a:srgbClr val="1E2D4A"/>
          </a:solidFill>
          <a:ln w="19050">
            <a:solidFill>
              <a:srgbClr val="5334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533483"/>
                </a:solidFill>
                <a:latin typeface="Microsoft YaHei"/>
              </a:defRPr>
            </a:pPr>
            <a:r>
              <a:t>深度 Transformer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80" y="283464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CCDD"/>
                </a:solidFill>
                <a:latin typeface="Microsoft YaHei"/>
              </a:defRPr>
            </a:pPr>
            <a:r>
              <a:t>--depth_transformer_type twoway|dual_attn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0" y="283464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9AABB"/>
                </a:solidFill>
                <a:latin typeface="Microsoft YaHei"/>
              </a:defRPr>
            </a:pPr>
            <a:r>
              <a:t>迁移学习 vs 新架构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3566160"/>
            <a:ext cx="1645920" cy="548640"/>
          </a:xfrm>
          <a:prstGeom prst="roundRect">
            <a:avLst/>
          </a:prstGeom>
          <a:solidFill>
            <a:srgbClr val="0984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训练级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286000" y="3566160"/>
            <a:ext cx="2286000" cy="548640"/>
          </a:xfrm>
          <a:prstGeom prst="roundRect">
            <a:avLst/>
          </a:prstGeom>
          <a:solidFill>
            <a:srgbClr val="1E2D4A"/>
          </a:solidFill>
          <a:ln w="19050">
            <a:solidFill>
              <a:srgbClr val="0984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0984E3"/>
                </a:solidFill>
                <a:latin typeface="Microsoft YaHei"/>
              </a:defRPr>
            </a:pPr>
            <a:r>
              <a:t>迭代策略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54880" y="356616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CCDD"/>
                </a:solidFill>
                <a:latin typeface="Microsoft YaHei"/>
              </a:defRPr>
            </a:pPr>
            <a:r>
              <a:t>--n_sub 1~4, --mask_prob 0~1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0" y="356616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9AABB"/>
                </a:solidFill>
                <a:latin typeface="Microsoft YaHei"/>
              </a:defRPr>
            </a:pPr>
            <a:r>
              <a:t>提示精炼的效果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4297680"/>
            <a:ext cx="1645920" cy="548640"/>
          </a:xfrm>
          <a:prstGeom prst="round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训练级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286000" y="4297680"/>
            <a:ext cx="2286000" cy="548640"/>
          </a:xfrm>
          <a:prstGeom prst="roundRect">
            <a:avLst/>
          </a:prstGeom>
          <a:solidFill>
            <a:srgbClr val="1E2D4A"/>
          </a:solidFill>
          <a:ln w="19050">
            <a:solidFill>
              <a:srgbClr val="FF9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9800"/>
                </a:solidFill>
                <a:latin typeface="Microsoft YaHei"/>
              </a:defRPr>
            </a:pPr>
            <a:r>
              <a:t>训练配置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54880" y="429768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CCDD"/>
                </a:solidFill>
                <a:latin typeface="Microsoft YaHei"/>
              </a:defRPr>
            </a:pPr>
            <a:r>
              <a:t>--train_phase, --lr, --depth_loss_weight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86800" y="429768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9AABB"/>
                </a:solidFill>
                <a:latin typeface="Microsoft YaHei"/>
              </a:defRPr>
            </a:pPr>
            <a:r>
              <a:t>训练策略的影响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7200" y="5120640"/>
            <a:ext cx="11247120" cy="1371600"/>
          </a:xfrm>
          <a:prstGeom prst="roundRect">
            <a:avLst/>
          </a:prstGeom>
          <a:solidFill>
            <a:srgbClr val="1E2D4A"/>
          </a:solidFill>
          <a:ln w="19050">
            <a:solidFill>
              <a:srgbClr val="FFEA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" y="5212080"/>
            <a:ext cx="107899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DDDDDD"/>
                </a:solidFill>
                <a:latin typeface="Microsoft YaHei"/>
              </a:defRPr>
            </a:pPr>
            <a:r>
              <a:t>实验总量统计：</a:t>
            </a:r>
            <a:br/>
            <a:r>
              <a:t>• P0 必做：7 组（编码器2 + 适配器3 + Transformer2）</a:t>
            </a:r>
            <a:br/>
            <a:r>
              <a:t>• P1 推荐：14 组（交叉6 + 迭代4 + 训练策略4）</a:t>
            </a:r>
            <a:br/>
            <a:r>
              <a:t>• P2 可选：~8 组（超参调优）</a:t>
            </a:r>
            <a:br/>
            <a:r>
              <a:t>• 总计约 25-30 组实验，每组 100 epoch（Phase1+Phase2）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