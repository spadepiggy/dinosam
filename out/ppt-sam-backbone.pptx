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DepthSam：SAM 主干方向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CCDD"/>
                </a:solidFill>
                <a:latin typeface="Microsoft YaHei"/>
              </a:defRPr>
            </a:pPr>
            <a:r>
              <a:t>基于 SAM ViT-B 的深度感知分割框架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技术方案讨论 · 消融实验设计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7788"/>
                </a:solidFill>
                <a:latin typeface="Microsoft YaHei"/>
              </a:defRPr>
            </a:pPr>
            <a: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Microsoft YaHei"/>
              </a:defRPr>
            </a:pPr>
            <a:r>
              <a:t>问题定义与核心思路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2011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Microsoft YaHei"/>
              </a:defRPr>
            </a:pPr>
            <a:r>
              <a:t>❶ 单目深度估计的困难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• 本质上是欠定问题——同一张图像可以对应无穷多深度解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• 密集逐像素回归需要大量标注数据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• 现有方法缺乏对实例边界的感知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201168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  <a:latin typeface="Microsoft YaHei"/>
              </a:defRPr>
            </a:pPr>
            <a:r>
              <a:t>❷ 核心思路：掩码条件化深度回归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• 将深度预测条件化于分割掩码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• 从密集回归 → 逐实例标量预测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• 掩码界定空间范围，解码器专注深度判别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4560"/>
                </a:solidFill>
                <a:latin typeface="Microsoft YaHei"/>
              </a:defRPr>
            </a:pPr>
            <a:r>
              <a:t>关键设计决策（消融出发点）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冻结 SAM 编码器</a:t>
            </a:r>
            <a:br/>
            <a:br/>
            <a:r>
              <a:t>保留 SA-1B 大规模分割预训练先验</a:t>
            </a:r>
            <a:br/>
            <a:r>
              <a:t>消融隔离：解码侧修改可独立评估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20624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297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两阶段分离训练</a:t>
            </a:r>
            <a:br/>
            <a:br/>
            <a:r>
              <a:t>先掩码后深度，避免多任务干扰</a:t>
            </a:r>
            <a:br/>
            <a:r>
              <a:t>每阶段可独立评估、独立消融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20624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297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梯度截断（detach）</a:t>
            </a:r>
            <a:br/>
            <a:br/>
            <a:r>
              <a:t>深度分支不回传梯度到掩码分支</a:t>
            </a:r>
            <a:br/>
            <a:r>
              <a:t>分割误差与深度误差解耦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Microsoft YaHei"/>
              </a:defRPr>
            </a:pPr>
            <a:r>
              <a:t>DepthSam 整体架构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097280" cy="6400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3460"/>
                </a:solidFill>
                <a:latin typeface="Microsoft YaHei"/>
              </a:defRPr>
            </a:pPr>
            <a:r>
              <a:t>输入图像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2103120"/>
            <a:ext cx="1828800" cy="1005840"/>
          </a:xfrm>
          <a:prstGeom prst="roundRect">
            <a:avLst/>
          </a:prstGeom>
          <a:solidFill>
            <a:srgbClr val="FFEAA7"/>
          </a:solidFill>
          <a:ln w="1905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63031"/>
                </a:solidFill>
                <a:latin typeface="Microsoft YaHei"/>
              </a:defRPr>
            </a:pPr>
            <a:r>
              <a:t>SAM ViT-B/16</a:t>
            </a:r>
            <a:br/>
            <a:r>
              <a:t>图像编码器</a:t>
            </a:r>
            <a:br/>
            <a:r>
              <a:t>🔒 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984E3"/>
                </a:solidFill>
                <a:latin typeface="Microsoft YaHei"/>
              </a:defRPr>
            </a:pPr>
            <a:r>
              <a:t>掩码分支 (Phase 1 可训练)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1645920" cy="640080"/>
          </a:xfrm>
          <a:prstGeom prst="roundRect">
            <a:avLst/>
          </a:prstGeom>
          <a:solidFill>
            <a:srgbClr val="DFF9FB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984E3"/>
                </a:solidFill>
                <a:latin typeface="Microsoft YaHei"/>
              </a:defRPr>
            </a:pPr>
            <a:r>
              <a:t>PromptEncoder</a:t>
            </a:r>
            <a:br/>
            <a:r>
              <a:t>点提示 → 嵌入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1645920" cy="640080"/>
          </a:xfrm>
          <a:prstGeom prst="roundRect">
            <a:avLst/>
          </a:prstGeom>
          <a:solidFill>
            <a:srgbClr val="DFF9FB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984E3"/>
                </a:solidFill>
                <a:latin typeface="Microsoft YaHei"/>
              </a:defRPr>
            </a:pPr>
            <a:r>
              <a:t>MaskDecoder</a:t>
            </a:r>
            <a:br/>
            <a:r>
              <a:t>TwoWayTransformer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188720"/>
            <a:ext cx="1188720" cy="457200"/>
          </a:xfrm>
          <a:prstGeom prst="roundRect">
            <a:avLst/>
          </a:prstGeom>
          <a:solidFill>
            <a:srgbClr val="55EFC4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95C"/>
                </a:solidFill>
                <a:latin typeface="Microsoft YaHei"/>
              </a:defRPr>
            </a:pPr>
            <a:r>
              <a:t>分割掩码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828800"/>
            <a:ext cx="1188720" cy="457200"/>
          </a:xfrm>
          <a:prstGeom prst="roundRect">
            <a:avLst/>
          </a:prstGeom>
          <a:solidFill>
            <a:srgbClr val="81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266"/>
                </a:solidFill>
                <a:latin typeface="Microsoft YaHei"/>
              </a:defRPr>
            </a:pPr>
            <a:r>
              <a:t>IoU 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560320"/>
            <a:ext cx="2286000" cy="4572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low_res_masks (detach)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33483"/>
                </a:solidFill>
                <a:latin typeface="Microsoft YaHei"/>
              </a:defRPr>
            </a:pPr>
            <a:r>
              <a:t>深度分支 (Phase 2 可训练)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749039"/>
            <a:ext cx="1645920" cy="640080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533483"/>
                </a:solidFill>
                <a:latin typeface="Microsoft YaHei"/>
              </a:defRPr>
            </a:pPr>
            <a:r>
              <a:t>Outer PE</a:t>
            </a:r>
            <a:br/>
            <a:r>
              <a:t>掩码 → 密集嵌入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749039"/>
            <a:ext cx="1828800" cy="640080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533483"/>
                </a:solidFill>
                <a:latin typeface="Microsoft YaHei"/>
              </a:defRPr>
            </a:pPr>
            <a:r>
              <a:t>DepthMaskDecoder</a:t>
            </a:r>
            <a:br/>
            <a:r>
              <a:t>depth_token + MLP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474720"/>
            <a:ext cx="1188720" cy="457200"/>
          </a:xfrm>
          <a:prstGeom prst="roundRect">
            <a:avLst/>
          </a:prstGeom>
          <a:solidFill>
            <a:srgbClr val="FFE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C5100"/>
                </a:solidFill>
                <a:latin typeface="Microsoft YaHei"/>
              </a:defRPr>
            </a:pPr>
            <a:r>
              <a:t>深度标量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4114800"/>
            <a:ext cx="1188720" cy="457200"/>
          </a:xfrm>
          <a:prstGeom prst="roundRect">
            <a:avLst/>
          </a:prstGeom>
          <a:solidFill>
            <a:srgbClr val="FAB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B2D00"/>
                </a:solidFill>
                <a:latin typeface="Microsoft YaHei"/>
              </a:defRPr>
            </a:pPr>
            <a:r>
              <a:t>辅助掩码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(B,256,64,64)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3460"/>
                </a:solidFill>
                <a:latin typeface="Microsoft YaHei"/>
              </a:defRPr>
            </a:pPr>
            <a:r>
              <a:t>关键参数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5394960"/>
          <a:ext cx="10972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377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初始化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SAM ViT-B/16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输出 (B,256,64,64)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SA-1B 预训练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全程冻结，不参与任何阶段训练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prompt_embed_dim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提示编码维度，贯穿整个解码管线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mask_in_chans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掩码输入通道数（outer PE）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TwoWayTransformer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d=2, h=8, mlp=2048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SAM 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掩码和深度分支各一个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3460"/>
                </a:solidFill>
                <a:latin typeface="Microsoft YaHei"/>
              </a:defRPr>
            </a:pPr>
            <a:r>
              <a:t>DepthMaskDecoder — 与 SAM MaskDecoder 的三处修改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029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984E3"/>
                </a:solidFill>
                <a:latin typeface="Microsoft YaHei"/>
              </a:defRPr>
            </a:pPr>
            <a:r>
              <a:t>SAM MaskDecoder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457200"/>
          </a:xfrm>
          <a:prstGeom prst="roundRect">
            <a:avLst/>
          </a:prstGeom>
          <a:solidFill>
            <a:srgbClr val="DFF9FB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984E3"/>
                </a:solidFill>
                <a:latin typeface="Microsoft YaHei"/>
              </a:defRPr>
            </a:pPr>
            <a:r>
              <a:t>iou_token (1×256)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2286000" cy="457200"/>
          </a:xfrm>
          <a:prstGeom prst="roundRect">
            <a:avLst/>
          </a:prstGeom>
          <a:solidFill>
            <a:srgbClr val="DFF9FB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984E3"/>
                </a:solidFill>
                <a:latin typeface="Microsoft YaHei"/>
              </a:defRPr>
            </a:pPr>
            <a:r>
              <a:t>mask_tokens (4×256)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560320"/>
            <a:ext cx="3657600" cy="548640"/>
          </a:xfrm>
          <a:prstGeom prst="round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TwoWayTransformer (d=2, h=8)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2286000" cy="457200"/>
          </a:xfrm>
          <a:prstGeom prst="roundRect">
            <a:avLst/>
          </a:prstGeom>
          <a:solidFill>
            <a:srgbClr val="81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266"/>
                </a:solidFill>
                <a:latin typeface="Microsoft YaHei"/>
              </a:defRPr>
            </a:pPr>
            <a:r>
              <a:t>IoU Prediction 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383280"/>
            <a:ext cx="2011680" cy="457200"/>
          </a:xfrm>
          <a:prstGeom prst="roundRect">
            <a:avLst/>
          </a:prstGeom>
          <a:solidFill>
            <a:srgbClr val="DFF9FB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984E3"/>
                </a:solidFill>
                <a:latin typeface="Microsoft YaHei"/>
              </a:defRPr>
            </a:pPr>
            <a:r>
              <a:t>4×HyperMLP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828800" cy="457200"/>
          </a:xfrm>
          <a:prstGeom prst="roundRect">
            <a:avLst/>
          </a:prstGeom>
          <a:solidFill>
            <a:srgbClr val="81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266"/>
                </a:solidFill>
                <a:latin typeface="Microsoft YaHei"/>
              </a:defRPr>
            </a:pPr>
            <a:r>
              <a:t>IoU (B,1)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114800"/>
            <a:ext cx="2011680" cy="457200"/>
          </a:xfrm>
          <a:prstGeom prst="roundRect">
            <a:avLst/>
          </a:prstGeom>
          <a:solidFill>
            <a:srgbClr val="55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95C"/>
                </a:solidFill>
                <a:latin typeface="Microsoft YaHei"/>
              </a:defRPr>
            </a:pPr>
            <a:r>
              <a:t>4 Masks (B,4,H,W)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760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280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33483"/>
                </a:solidFill>
                <a:latin typeface="Microsoft YaHei"/>
              </a:defRPr>
            </a:pPr>
            <a:r>
              <a:t>DepthMaskDecoder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286000" cy="457200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533483"/>
                </a:solidFill>
                <a:latin typeface="Microsoft YaHei"/>
              </a:defRPr>
            </a:pPr>
            <a:r>
              <a:t>depth_token (1×256)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828800"/>
            <a:ext cx="2286000" cy="457200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533483"/>
                </a:solidFill>
                <a:latin typeface="Microsoft YaHei"/>
              </a:defRPr>
            </a:pPr>
            <a:r>
              <a:t>mask_tokens (1×256)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560320"/>
            <a:ext cx="4114800" cy="54864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TwoWayTransformer (d=2, h=8)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83280"/>
            <a:ext cx="2286000" cy="457200"/>
          </a:xfrm>
          <a:prstGeom prst="roundRect">
            <a:avLst/>
          </a:prstGeom>
          <a:solidFill>
            <a:srgbClr val="FFE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C5100"/>
                </a:solidFill>
                <a:latin typeface="Microsoft YaHei"/>
              </a:defRPr>
            </a:pPr>
            <a:r>
              <a:t>Depth Head (MLP 3层)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383280"/>
            <a:ext cx="2560320" cy="457200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533483"/>
                </a:solidFill>
                <a:latin typeface="Microsoft YaHei"/>
              </a:defRPr>
            </a:pPr>
            <a:r>
              <a:t>1×HyperMLP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2286000" cy="457200"/>
          </a:xfrm>
          <a:prstGeom prst="roundRect">
            <a:avLst/>
          </a:prstGeom>
          <a:solidFill>
            <a:srgbClr val="FFE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C5100"/>
                </a:solidFill>
                <a:latin typeface="Microsoft YaHei"/>
              </a:defRPr>
            </a:pPr>
            <a:r>
              <a:t>Depth (B,)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4114800"/>
            <a:ext cx="2560320" cy="457200"/>
          </a:xfrm>
          <a:prstGeom prst="roundRect">
            <a:avLst/>
          </a:prstGeom>
          <a:solidFill>
            <a:srgbClr val="FAB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B2D00"/>
                </a:solidFill>
                <a:latin typeface="Microsoft YaHei"/>
              </a:defRPr>
            </a:pPr>
            <a:r>
              <a:t>1 Mask (B,1,H,W)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46320"/>
            <a:ext cx="5212080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5100"/>
                </a:solidFill>
                <a:latin typeface="Microsoft YaHei"/>
              </a:defRPr>
            </a:pPr>
            <a:r>
              <a:t>三处关键修改：</a:t>
            </a:r>
            <a:br/>
            <a:r>
              <a:t>❶ iou_token → depth_token + depth_prediction_head (MLP: 256→256→1)</a:t>
            </a:r>
            <a:br/>
            <a:r>
              <a:t>❷ 4 mask_tokens → 1 mask_token + 1 HyperMLP</a:t>
            </a:r>
            <a:br/>
            <a:r>
              <a:t>❸ IoU head → Depth head (3层 MLP)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3460"/>
                </a:solidFill>
                <a:latin typeface="Microsoft YaHei"/>
              </a:defRPr>
            </a:pPr>
            <a:r>
              <a:t>从 SAM 到 DepthSam 的权重初始化映射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SAM 源组件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DepthSam 目标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迁移方式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prompt_encoder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outer_prompt_encoder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完全复制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结构完全一致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mask_decoder.transformer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depth_decoder.transformer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完全复制*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*dual_attn 模式跳过，随机初始化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iou_token (1×256)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depth_token (1×256)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直接复制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形状一致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mask_tokens[0] (取第1个)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mask_tokens (1×256)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取第1个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SAM 有 4 个，只取第 1 个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output_upscaling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output_upscaling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完全复制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两层 ConvTranspose2d 结构一致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hyper_mlps[0]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hyper_mlps[0]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完全复制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SAM 有 4 个，只取第 1 个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（无对应）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depth_prediction_head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随机初始化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MLP: 256→256→1，唯一新增组件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Microsoft YaHei"/>
              </a:defRPr>
            </a:pPr>
            <a:r>
              <a:t>设计意图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• 使深度分支初始即理解如何注意 SAM 图像特征和提示嵌入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• 仅 depth_prediction_head 需要从头学习新的「特征→深度」映射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• 消融问题：dual_attn 模式下 Transformer 随机初始化 vs TwoWay 从 SAM 迁移，哪个更好？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Microsoft YaHei"/>
              </a:defRPr>
            </a:pPr>
            <a:r>
              <a:t>  → 这是一个重要的消融变量（--depth_transformer_type twoway|dual_attn）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Microsoft YaHei"/>
              </a:defRPr>
            </a:pPr>
            <a:r>
              <a:t>迭代提示精炼机制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28016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984E3"/>
                </a:solidFill>
                <a:latin typeface="Microsoft YaHei"/>
              </a:defRPr>
            </a:pPr>
            <a:r>
              <a:t>迭代轮 t=0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初始提示 P₀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55448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forward_mask →</a:t>
            </a:r>
            <a:br/>
            <a:r>
              <a:t>masks, low_res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55448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误差分析</a:t>
            </a:r>
            <a:br/>
            <a:r>
              <a:t>pred vs GT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55448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采样修正点</a:t>
            </a:r>
            <a:br/>
            <a:r>
              <a:t>+1正 +1负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55448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P₁ = P₀+Δ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1247120" cy="1280160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33483"/>
                </a:solidFill>
                <a:latin typeface="Microsoft YaHei"/>
              </a:defRPr>
            </a:pPr>
            <a:r>
              <a:t>迭代轮 t=1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P₁ (增长)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310896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forward_mask →</a:t>
            </a:r>
            <a:br/>
            <a:r>
              <a:t>masks, low_res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310896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误差分析</a:t>
            </a:r>
            <a:br/>
            <a:r>
              <a:t>pred vs GT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10896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采样修正点</a:t>
            </a:r>
            <a:br/>
            <a:r>
              <a:t>+1正 +1负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310896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→ P₂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11247120" cy="128016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894"/>
                </a:solidFill>
                <a:latin typeface="Microsoft YaHei"/>
              </a:defRPr>
            </a:pPr>
            <a:r>
              <a:t>最终轮 t=n-1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P_final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466344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forward_mask</a:t>
            </a:r>
            <a:br/>
            <a:r>
              <a:t>→ final masks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466344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loss = Σ/n_sub</a:t>
            </a:r>
            <a:br/>
            <a:r>
              <a:t>(dice+iou)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466344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detach →</a:t>
            </a:r>
            <a:br/>
            <a:r>
              <a:t>forward_depth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466344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深度标量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Microsoft YaHei"/>
              </a:defRPr>
            </a:pPr>
            <a:r>
              <a:t>可消融参数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5852160"/>
          <a:ext cx="112471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28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默认值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消融范围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n_sub_iterations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1（不迭代）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1, 2, 3, 4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提示精炼轮数，更多轮 = 更精确掩码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mask_prob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0.0, 0.25, 0.5, 0.75, 1.0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是否将上一轮 low_res 作为 mask_input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max_points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1, 3, 5, 7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初始点提示数量（GT 连通域质心）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Microsoft YaHei"/>
              </a:defRPr>
            </a:pPr>
            <a:r>
              <a:t>两阶段训练策略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984E3"/>
                </a:solidFill>
                <a:latin typeface="Microsoft YaHei"/>
              </a:defRPr>
            </a:pPr>
            <a:r>
              <a:t>Phase 1：掩码训练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365760"/>
          </a:xfrm>
          <a:prstGeom prst="roundRect">
            <a:avLst/>
          </a:prstGeom>
          <a:solidFill>
            <a:srgbClr val="FFE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3031"/>
                </a:solidFill>
                <a:latin typeface="Microsoft YaHei"/>
              </a:defRPr>
            </a:pPr>
            <a:r>
              <a:t>🔒 Image Encoder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828800"/>
            <a:ext cx="2286000" cy="365760"/>
          </a:xfrm>
          <a:prstGeom prst="roundRect">
            <a:avLst/>
          </a:prstGeom>
          <a:solidFill>
            <a:srgbClr val="FFE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3031"/>
                </a:solidFill>
                <a:latin typeface="Microsoft YaHei"/>
              </a:defRPr>
            </a:pPr>
            <a:r>
              <a:t>🔒 深度分支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286000" cy="365760"/>
          </a:xfrm>
          <a:prstGeom prst="roundRect">
            <a:avLst/>
          </a:prstGeom>
          <a:solidFill>
            <a:srgbClr val="55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95C"/>
                </a:solidFill>
                <a:latin typeface="Microsoft YaHei"/>
              </a:defRPr>
            </a:pPr>
            <a:r>
              <a:t>✏️ PromptEncoder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377440"/>
            <a:ext cx="2286000" cy="365760"/>
          </a:xfrm>
          <a:prstGeom prst="roundRect">
            <a:avLst/>
          </a:prstGeom>
          <a:solidFill>
            <a:srgbClr val="55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95C"/>
                </a:solidFill>
                <a:latin typeface="Microsoft YaHei"/>
              </a:defRPr>
            </a:pPr>
            <a:r>
              <a:t>✏️ MaskDecoder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损失函数：</a:t>
            </a:r>
            <a:br/>
            <a:r>
              <a:t>L = L_dice(masks, GT) + MSE(IoU_pred, IoU_true)</a:t>
            </a:r>
            <a:br/>
            <a:br/>
            <a:r>
              <a:t>优化器：AdamW, lr=1e-5</a:t>
            </a:r>
            <a:br/>
            <a:r>
              <a:t>调度器：StepLR(step=10, γ=0.5)</a:t>
            </a:r>
            <a:br/>
            <a:r>
              <a:t>迭代模式：多轮 forward + 误差采点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33483"/>
                </a:solidFill>
                <a:latin typeface="Microsoft YaHei"/>
              </a:defRPr>
            </a:pPr>
            <a:r>
              <a:t>Phase 2：深度训练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828800"/>
            <a:ext cx="2286000" cy="365760"/>
          </a:xfrm>
          <a:prstGeom prst="roundRect">
            <a:avLst/>
          </a:prstGeom>
          <a:solidFill>
            <a:srgbClr val="FFE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3031"/>
                </a:solidFill>
                <a:latin typeface="Microsoft YaHei"/>
              </a:defRPr>
            </a:pPr>
            <a:r>
              <a:t>🔒 Image Encoder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828800"/>
            <a:ext cx="2286000" cy="365760"/>
          </a:xfrm>
          <a:prstGeom prst="roundRect">
            <a:avLst/>
          </a:prstGeom>
          <a:solidFill>
            <a:srgbClr val="FFE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3031"/>
                </a:solidFill>
                <a:latin typeface="Microsoft YaHei"/>
              </a:defRPr>
            </a:pPr>
            <a:r>
              <a:t>🔒 掩码分支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377440"/>
            <a:ext cx="2286000" cy="365760"/>
          </a:xfrm>
          <a:prstGeom prst="roundRect">
            <a:avLst/>
          </a:prstGeom>
          <a:solidFill>
            <a:srgbClr val="55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95C"/>
                </a:solidFill>
                <a:latin typeface="Microsoft YaHei"/>
              </a:defRPr>
            </a:pPr>
            <a:r>
              <a:t>✏️ Outer 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377440"/>
            <a:ext cx="2286000" cy="365760"/>
          </a:xfrm>
          <a:prstGeom prst="roundRect">
            <a:avLst/>
          </a:prstGeom>
          <a:solidFill>
            <a:srgbClr val="55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95C"/>
                </a:solidFill>
                <a:latin typeface="Microsoft YaHei"/>
              </a:defRPr>
            </a:pPr>
            <a:r>
              <a:t>✏️ DepthDecoder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损失函数：</a:t>
            </a:r>
            <a:br/>
            <a:r>
              <a:t>L = λ × MSE(depth_pred, depth_GT)</a:t>
            </a:r>
            <a:br/>
            <a:br/>
            <a:r>
              <a:t>关键操作：</a:t>
            </a:r>
            <a:br/>
            <a:r>
              <a:t>1. 加载 Phase 1 检查点</a:t>
            </a:r>
            <a:br/>
            <a:r>
              <a:t>2. 重新 init_depth_from_sam()</a:t>
            </a:r>
            <a:br/>
            <a:r>
              <a:t>3. 掩码分支在 no_grad 下运行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Microsoft YaHei"/>
              </a:defRPr>
            </a:pPr>
            <a:r>
              <a:t>训练配置消融选项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52120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消融维度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选项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默认值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关注点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训练模式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phase1 / phase2 / 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两阶段 vs 联合训练的效果差异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学习率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1e-4 / 1e-5 / 5e-6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AdamW 学习率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30 / 50 /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两阶段各自的训练轮数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depth_loss_weight 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0.5 / 1.0 /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深度损失权重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★ SAM 方向消融实验矩阵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Microsoft YaHei"/>
              </a:defRPr>
            </a:pPr>
            <a:r>
              <a:t>控制变量法：每次只变一个维度，其余保持默认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984E3"/>
                </a:solidFill>
                <a:latin typeface="Microsoft YaHei"/>
              </a:defRPr>
            </a:pPr>
            <a:r>
              <a:t>维度 A</a:t>
            </a:r>
            <a:br/>
            <a:r>
              <a:t>深度分支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EAA7"/>
                </a:solidFill>
                <a:latin typeface="Microsoft YaHei"/>
              </a:defRPr>
            </a:pPr>
            <a:r>
              <a:t>--depth_transformer_type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Microsoft YaHei"/>
              </a:defRPr>
            </a:pPr>
            <a:r>
              <a:t>选项: twoway (SAM) ↔ dual_attn (PAM+CAM)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Microsoft YaHei"/>
              </a:defRPr>
            </a:pPr>
            <a:r>
              <a:t>TwoWay 从 SAM 迁移权重</a:t>
            </a:r>
            <a:br/>
            <a:r>
              <a:t>DualAttn 随机初始化</a:t>
            </a:r>
            <a:br/>
            <a:r>
              <a:t>→ 迁移学习 vs 新架构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894"/>
                </a:solidFill>
                <a:latin typeface="Microsoft YaHei"/>
              </a:defRPr>
            </a:pPr>
            <a:r>
              <a:t>维度 B</a:t>
            </a:r>
            <a:br/>
            <a:r>
              <a:t>迭代提示精炼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EAA7"/>
                </a:solidFill>
                <a:latin typeface="Microsoft YaHei"/>
              </a:defRPr>
            </a:pPr>
            <a:r>
              <a:t>--n_sub_iterations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Microsoft YaHei"/>
              </a:defRPr>
            </a:pPr>
            <a:r>
              <a:t>选项: 1 / 2 / 3 /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60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Microsoft YaHei"/>
              </a:defRPr>
            </a:pPr>
            <a:r>
              <a:t>更多迭代 = 更好掩码 = 更好深度？</a:t>
            </a:r>
            <a:br/>
            <a:r>
              <a:t>训练开销 vs 精度收益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33483"/>
                </a:solidFill>
                <a:latin typeface="Microsoft YaHei"/>
              </a:defRPr>
            </a:pPr>
            <a:r>
              <a:t>维度 C</a:t>
            </a:r>
            <a:br/>
            <a:r>
              <a:t>掩码传入策略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EAA7"/>
                </a:solidFill>
                <a:latin typeface="Microsoft YaHei"/>
              </a:defRPr>
            </a:pPr>
            <a:r>
              <a:t>--mask_prob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Microsoft YaHei"/>
              </a:defRPr>
            </a:pPr>
            <a:r>
              <a:t>选项: 0.0 / 0.25 / 0.5 / 0.75 /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60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Microsoft YaHei"/>
              </a:defRPr>
            </a:pPr>
            <a:r>
              <a:t>上一轮掩码作为先验的概率</a:t>
            </a:r>
            <a:br/>
            <a:r>
              <a:t>过高可能导致依赖累积误差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566160" cy="228600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维度 D</a:t>
            </a:r>
            <a:br/>
            <a:r>
              <a:t>初始点数量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EAA7"/>
                </a:solidFill>
                <a:latin typeface="Microsoft YaHei"/>
              </a:defRPr>
            </a:pPr>
            <a:r>
              <a:t>--max_points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54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Microsoft YaHei"/>
              </a:defRPr>
            </a:pPr>
            <a:r>
              <a:t>选项: 1 / 3 / 5 /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206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Microsoft YaHei"/>
              </a:defRPr>
            </a:pPr>
            <a:r>
              <a:t>GT 连通域质心采样</a:t>
            </a:r>
            <a:br/>
            <a:r>
              <a:t>多点 vs 信息冗余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931920"/>
            <a:ext cx="3566160" cy="228600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维度 E</a:t>
            </a:r>
            <a:br/>
            <a:r>
              <a:t>训练策略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80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EAA7"/>
                </a:solidFill>
                <a:latin typeface="Microsoft YaHei"/>
              </a:defRPr>
            </a:pPr>
            <a:r>
              <a:t>--train_phase + 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754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Microsoft YaHei"/>
              </a:defRPr>
            </a:pPr>
            <a:r>
              <a:t>选项: 两阶段 / 联合 / 不同 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1206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Microsoft YaHei"/>
              </a:defRPr>
            </a:pPr>
            <a:r>
              <a:t>分离训练 vs 多任务学习</a:t>
            </a:r>
            <a:br/>
            <a:r>
              <a:t>深度权重的最佳配比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Microsoft YaHei"/>
              </a:defRPr>
            </a:pPr>
            <a:r>
              <a:t>消融实验具体方案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实验编号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消融维度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默认基线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评估指标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预期发现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A1 vs 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深度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twoway vs dual_attn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twoway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Depth MAE/R², Mask 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迁移学习是否优于新架构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B1-B4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迭代次数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n_sub=1,2,3,4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n_sub=1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Mask Dice/IoU, Depth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迭代精炼的边际收益递减点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C1-C5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掩码传入概率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prob=0,0.25,0.5,0.75,1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prob=0.5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Mask Dice, Depth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最优先验注入比例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D1-D4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初始点数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pts=1,3,5,7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pts=3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Mask Dice/IoU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信息量 vs 冗余的最优点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E1-E3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训练策略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两阶段/联合/λ变化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两阶段,λ=1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Depth MAE, Mask 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多任务学习是否优于分离训练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Microsoft YaHei"/>
              </a:defRPr>
            </a:pPr>
            <a:r>
              <a:t>建议实验优先级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🔴 P0（必做）：A1 vs A2 — depth_transformer_type 是架构层面的核心决策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🔴 P0（必做）：B1-B4 — 迭代提示精炼是方法论的核心贡献之一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🟡 P1（推荐）：C1-C5 — mask_prob 影响训练稳定性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🟡 P1（推荐）：E1-E3 — 两阶段 vs 联合训练的对比是论文常见消融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🟢 P2（可选）：D1-D4 — 初始点数影响较小，可作为补充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Microsoft YaHei"/>
              </a:defRPr>
            </a:pPr>
            <a:r>
              <a:t>与老师讨论的开放问题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984E3"/>
                </a:solidFill>
                <a:latin typeface="Microsoft YaHei"/>
              </a:defRPr>
            </a:pPr>
            <a:r>
              <a:t>架构选择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1. 冻结 SAM 编码器的前提是否过强？是否应该尝试微调最后几层？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2. depth_prediction_head 只有 3 层 MLP (256→256→1)，容量是否足够？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3. 深度预测为标量值——是否考虑过密集深度图预测？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33483"/>
                </a:solidFill>
                <a:latin typeface="Microsoft YaHei"/>
              </a:defRPr>
            </a:pPr>
            <a:r>
              <a:t>训练策略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4. 两阶段训练 vs 端到端联合训练的消融如何设计？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5. Phase 2 重新 init_depth_from_sam() 是否必要？直接续训如何？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6. StepLR(step=10, γ=0.5) 是否过于激进？CosineAnnealing 是否更好？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消融设计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7. dual_attn_transformer 模式跳过权重迁移——是否影响公平对比？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8. 迭代精炼的训练/推理一致性：训练时迭代 n 轮，推理时是否也必须？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9. SAM 编码器 vs DINOv3 编码器作为最顶层消融，实验如何设计？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